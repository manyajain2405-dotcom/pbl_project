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7" r:id="rId2"/>
    <p:sldId id="257" r:id="rId3"/>
    <p:sldId id="258" r:id="rId4"/>
    <p:sldId id="259" r:id="rId5"/>
    <p:sldId id="260" r:id="rId6"/>
    <p:sldId id="261" r:id="rId7"/>
    <p:sldId id="262" r:id="rId8"/>
    <p:sldId id="263" r:id="rId9"/>
    <p:sldId id="268" r:id="rId10"/>
    <p:sldId id="269" r:id="rId11"/>
    <p:sldId id="265" r:id="rId12"/>
    <p:sldId id="266" r:id="rId13"/>
  </p:sldIdLst>
  <p:sldSz cx="18288000" cy="10287000"/>
  <p:notesSz cx="6858000" cy="9144000"/>
  <p:embeddedFontLst>
    <p:embeddedFont>
      <p:font typeface="Archivo Black" panose="020B0A03020202020B04" pitchFamily="34" charset="77"/>
      <p:regular r:id="rId14"/>
    </p:embeddedFont>
    <p:embeddedFont>
      <p:font typeface="Canva Sans" panose="020B0503030501040103" pitchFamily="34" charset="0"/>
      <p:regular r:id="rId15"/>
    </p:embeddedFont>
    <p:embeddedFont>
      <p:font typeface="Canva Sans Bold" panose="020B0803030501040103" pitchFamily="34" charset="0"/>
      <p:regular r:id="rId16"/>
      <p:bold r:id="rId17"/>
    </p:embeddedFont>
    <p:embeddedFont>
      <p:font typeface="Garet" pitchFamily="2" charset="77"/>
      <p:regular r:id="rId18"/>
    </p:embeddedFont>
    <p:embeddedFont>
      <p:font typeface="Garet Bold" pitchFamily="2" charset="77"/>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35"/>
  </p:normalViewPr>
  <p:slideViewPr>
    <p:cSldViewPr snapToGrid="0">
      <p:cViewPr varScale="1">
        <p:scale>
          <a:sx n="76" d="100"/>
          <a:sy n="76" d="100"/>
        </p:scale>
        <p:origin x="624" y="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214139" y="4401879"/>
            <a:ext cx="9768061" cy="1467291"/>
          </a:xfrm>
        </p:spPr>
        <p:txBody>
          <a:bodyPr>
            <a:normAutofit fontScale="90000"/>
          </a:bodyPr>
          <a:lstStyle/>
          <a:p>
            <a:r>
              <a:rPr lang="en-US" sz="9600" spc="-1015" dirty="0">
                <a:solidFill>
                  <a:srgbClr val="000000"/>
                </a:solidFill>
                <a:latin typeface="Archivo Black"/>
                <a:ea typeface="Archivo Black"/>
                <a:cs typeface="Archivo Black"/>
                <a:sym typeface="Archivo Black"/>
              </a:rPr>
              <a:t>STYQLO</a:t>
            </a:r>
            <a:br>
              <a:rPr lang="en-US" sz="9600" spc="-1015" dirty="0">
                <a:solidFill>
                  <a:srgbClr val="000000"/>
                </a:solidFill>
                <a:latin typeface="Archivo Black"/>
                <a:ea typeface="Archivo Black"/>
                <a:cs typeface="Archivo Black"/>
                <a:sym typeface="Archivo Black"/>
              </a:rPr>
            </a:br>
            <a:r>
              <a:rPr lang="en-US" sz="4400" spc="-235" dirty="0">
                <a:solidFill>
                  <a:srgbClr val="000000"/>
                </a:solidFill>
                <a:latin typeface="Archivo Black"/>
                <a:ea typeface="Archivo Black"/>
                <a:cs typeface="Archivo Black"/>
                <a:sym typeface="Archivo Black"/>
              </a:rPr>
              <a:t>Your Personal AI Fashion Stylist</a:t>
            </a:r>
            <a:br>
              <a:rPr lang="en-US" sz="4400" spc="-235" dirty="0">
                <a:solidFill>
                  <a:srgbClr val="000000"/>
                </a:solidFill>
                <a:latin typeface="Archivo Black"/>
                <a:ea typeface="Archivo Black"/>
                <a:cs typeface="Archivo Black"/>
                <a:sym typeface="Archivo Black"/>
              </a:rPr>
            </a:br>
            <a:endParaRPr lang="en-IN"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616117" y="7336466"/>
            <a:ext cx="3124199" cy="1834116"/>
          </a:xfrm>
        </p:spPr>
        <p:txBody>
          <a:bodyPr/>
          <a:lstStyle/>
          <a:p>
            <a:r>
              <a:rPr lang="en-IN">
                <a:solidFill>
                  <a:schemeClr val="tx1"/>
                </a:solidFill>
              </a:rPr>
              <a:t>Submitted By:</a:t>
            </a:r>
            <a:br>
              <a:rPr lang="en-IN">
                <a:solidFill>
                  <a:schemeClr val="tx1"/>
                </a:solidFill>
              </a:rPr>
            </a:br>
            <a:r>
              <a:rPr lang="en-IN">
                <a:solidFill>
                  <a:schemeClr val="tx1"/>
                </a:solidFill>
              </a:rPr>
              <a:t>Manya Jain</a:t>
            </a:r>
          </a:p>
          <a:p>
            <a:r>
              <a:rPr lang="en-IN">
                <a:solidFill>
                  <a:schemeClr val="tx1"/>
                </a:solidFill>
              </a:rPr>
              <a:t>2427030674</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5105403" y="7325828"/>
            <a:ext cx="3124198" cy="1834116"/>
          </a:xfrm>
          <a:prstGeom prst="rect">
            <a:avLst/>
          </a:prstGeom>
        </p:spPr>
        <p:txBody>
          <a:bodyPr vert="horz" lIns="137160" tIns="68580" rIns="137160" bIns="6858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500"/>
              <a:t>Supervised By:</a:t>
            </a:r>
            <a:br>
              <a:rPr lang="en-IN" sz="3500"/>
            </a:br>
            <a:r>
              <a:rPr lang="en-IN" sz="3500"/>
              <a:t>Ms. Babita Tiwari</a:t>
            </a:r>
          </a:p>
          <a:p>
            <a:endParaRPr lang="en-IN" sz="360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139" y="199359"/>
            <a:ext cx="6261059" cy="1834118"/>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0" y="1888176"/>
            <a:ext cx="11658600" cy="1668414"/>
          </a:xfrm>
          <a:prstGeom prst="rect">
            <a:avLst/>
          </a:prstGeom>
        </p:spPr>
        <p:txBody>
          <a:bodyPr vert="horz" lIns="137160" tIns="68580" rIns="137160" bIns="6858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4200" b="1"/>
              <a:t>School of Computer Science and Engineering</a:t>
            </a:r>
          </a:p>
          <a:p>
            <a:pPr>
              <a:lnSpc>
                <a:spcPct val="150000"/>
              </a:lnSpc>
            </a:pPr>
            <a:r>
              <a:rPr lang="en-IN" sz="4200" b="1"/>
              <a:t>Department of Computer Science and Engineering</a:t>
            </a:r>
          </a:p>
        </p:txBody>
      </p:sp>
      <p:pic>
        <p:nvPicPr>
          <p:cNvPr id="6" name="Picture 5" descr="A closet with clothes on swingers&#10;&#10;Description automatically generated">
            <a:extLst>
              <a:ext uri="{FF2B5EF4-FFF2-40B4-BE49-F238E27FC236}">
                <a16:creationId xmlns:a16="http://schemas.microsoft.com/office/drawing/2014/main" id="{47E0B8E5-CBED-C930-3F43-A33904FE3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8600" y="114300"/>
            <a:ext cx="6629400" cy="10058400"/>
          </a:xfrm>
          <a:prstGeom prst="rect">
            <a:avLst/>
          </a:prstGeom>
        </p:spPr>
      </p:pic>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a:off x="5643370" y="0"/>
            <a:ext cx="7032129" cy="10287000"/>
          </a:xfrm>
          <a:custGeom>
            <a:avLst/>
            <a:gdLst/>
            <a:ahLst/>
            <a:cxnLst/>
            <a:rect l="l" t="t" r="r" b="b"/>
            <a:pathLst>
              <a:path w="7032129" h="10287000">
                <a:moveTo>
                  <a:pt x="0" y="0"/>
                </a:moveTo>
                <a:lnTo>
                  <a:pt x="7032129" y="0"/>
                </a:lnTo>
                <a:lnTo>
                  <a:pt x="7032129" y="10287000"/>
                </a:lnTo>
                <a:lnTo>
                  <a:pt x="0" y="1028700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430366" y="2813659"/>
            <a:ext cx="3828934" cy="5373266"/>
          </a:xfrm>
          <a:prstGeom prst="rect">
            <a:avLst/>
          </a:prstGeom>
        </p:spPr>
        <p:txBody>
          <a:bodyPr lIns="0" tIns="0" rIns="0" bIns="0" rtlCol="0" anchor="t">
            <a:spAutoFit/>
          </a:bodyPr>
          <a:lstStyle/>
          <a:p>
            <a:pPr algn="r">
              <a:lnSpc>
                <a:spcPts val="2800"/>
              </a:lnSpc>
            </a:pPr>
            <a:r>
              <a:rPr lang="en-US" sz="2000" dirty="0">
                <a:solidFill>
                  <a:srgbClr val="000000"/>
                </a:solidFill>
                <a:latin typeface="Garet"/>
                <a:ea typeface="Garet"/>
                <a:cs typeface="Garet"/>
                <a:sym typeface="Garet"/>
              </a:rPr>
              <a:t>In today’s busy world, picking the perfect outfit can be both exciting and stressful. With so many styles, colors, and trends to consider, finding a look that truly suits your personality, body type, and the occasion can feel overwhelming. That’s where STYQLO comes in — an AI-powered fashion assistant designed to make dressing stylishly easy, personalized, and fun.</a:t>
            </a:r>
          </a:p>
          <a:p>
            <a:pPr algn="r">
              <a:lnSpc>
                <a:spcPts val="2800"/>
              </a:lnSpc>
            </a:pPr>
            <a:endParaRPr lang="en-US" sz="2000" dirty="0">
              <a:solidFill>
                <a:srgbClr val="000000"/>
              </a:solidFill>
              <a:latin typeface="Garet"/>
              <a:ea typeface="Garet"/>
              <a:cs typeface="Garet"/>
              <a:sym typeface="Garet"/>
            </a:endParaRPr>
          </a:p>
        </p:txBody>
      </p:sp>
      <p:sp>
        <p:nvSpPr>
          <p:cNvPr id="5" name="TextBox 5"/>
          <p:cNvSpPr txBox="1"/>
          <p:nvPr/>
        </p:nvSpPr>
        <p:spPr>
          <a:xfrm>
            <a:off x="1736732" y="3531176"/>
            <a:ext cx="3120902" cy="2454275"/>
          </a:xfrm>
          <a:prstGeom prst="rect">
            <a:avLst/>
          </a:prstGeom>
        </p:spPr>
        <p:txBody>
          <a:bodyPr lIns="0" tIns="0" rIns="0" bIns="0" rtlCol="0" anchor="t">
            <a:spAutoFit/>
          </a:bodyPr>
          <a:lstStyle/>
          <a:p>
            <a:pPr algn="l">
              <a:lnSpc>
                <a:spcPts val="2800"/>
              </a:lnSpc>
            </a:pPr>
            <a:r>
              <a:rPr lang="en-US" sz="2000" dirty="0">
                <a:solidFill>
                  <a:srgbClr val="000000"/>
                </a:solidFill>
                <a:latin typeface="Garet"/>
                <a:ea typeface="Garet"/>
                <a:cs typeface="Garet"/>
                <a:sym typeface="Garet"/>
              </a:rPr>
              <a:t>It understands your personal style, body shape, and the event you’re dressing for, giving suggestions that are customised just for you.</a:t>
            </a:r>
          </a:p>
        </p:txBody>
      </p:sp>
      <p:sp>
        <p:nvSpPr>
          <p:cNvPr id="6" name="TextBox 6"/>
          <p:cNvSpPr txBox="1"/>
          <p:nvPr/>
        </p:nvSpPr>
        <p:spPr>
          <a:xfrm>
            <a:off x="1028700" y="3531176"/>
            <a:ext cx="467670" cy="346249"/>
          </a:xfrm>
          <a:prstGeom prst="rect">
            <a:avLst/>
          </a:prstGeom>
        </p:spPr>
        <p:txBody>
          <a:bodyPr lIns="0" tIns="0" rIns="0" bIns="0" rtlCol="0" anchor="t">
            <a:spAutoFit/>
          </a:bodyPr>
          <a:lstStyle/>
          <a:p>
            <a:pPr algn="r">
              <a:lnSpc>
                <a:spcPts val="2800"/>
              </a:lnSpc>
            </a:pPr>
            <a:r>
              <a:rPr lang="en-US" sz="2000" b="1" dirty="0">
                <a:solidFill>
                  <a:srgbClr val="000000"/>
                </a:solidFill>
                <a:latin typeface="Garet Bold"/>
                <a:ea typeface="Garet Bold"/>
                <a:cs typeface="Garet Bold"/>
                <a:sym typeface="Garet Bold"/>
              </a:rPr>
              <a:t>2</a:t>
            </a:r>
            <a:endParaRPr lang="en-US" sz="2000" b="1">
              <a:solidFill>
                <a:srgbClr val="000000"/>
              </a:solidFill>
              <a:latin typeface="Garet Bold"/>
              <a:ea typeface="Garet Bold"/>
              <a:cs typeface="Garet Bold"/>
              <a:sym typeface="Garet Bold"/>
            </a:endParaRPr>
          </a:p>
        </p:txBody>
      </p:sp>
      <p:sp>
        <p:nvSpPr>
          <p:cNvPr id="7" name="TextBox 7"/>
          <p:cNvSpPr txBox="1"/>
          <p:nvPr/>
        </p:nvSpPr>
        <p:spPr>
          <a:xfrm>
            <a:off x="1767601" y="1129691"/>
            <a:ext cx="3120902" cy="1782539"/>
          </a:xfrm>
          <a:prstGeom prst="rect">
            <a:avLst/>
          </a:prstGeom>
        </p:spPr>
        <p:txBody>
          <a:bodyPr lIns="0" tIns="0" rIns="0" bIns="0" rtlCol="0" anchor="t">
            <a:spAutoFit/>
          </a:bodyPr>
          <a:lstStyle/>
          <a:p>
            <a:pPr algn="l">
              <a:lnSpc>
                <a:spcPts val="2800"/>
              </a:lnSpc>
            </a:pPr>
            <a:r>
              <a:rPr lang="en-US" sz="2000" dirty="0">
                <a:solidFill>
                  <a:srgbClr val="000000"/>
                </a:solidFill>
                <a:latin typeface="Garet"/>
                <a:ea typeface="Garet"/>
                <a:cs typeface="Garet"/>
                <a:sym typeface="Garet"/>
              </a:rPr>
              <a:t>STYQLO is about more than just clothes — it’s about helping you feel confident, stylish, and ready for anything.</a:t>
            </a:r>
          </a:p>
        </p:txBody>
      </p:sp>
      <p:sp>
        <p:nvSpPr>
          <p:cNvPr id="8" name="TextBox 8"/>
          <p:cNvSpPr txBox="1"/>
          <p:nvPr/>
        </p:nvSpPr>
        <p:spPr>
          <a:xfrm>
            <a:off x="1028700" y="1149668"/>
            <a:ext cx="467670" cy="346249"/>
          </a:xfrm>
          <a:prstGeom prst="rect">
            <a:avLst/>
          </a:prstGeom>
        </p:spPr>
        <p:txBody>
          <a:bodyPr lIns="0" tIns="0" rIns="0" bIns="0" rtlCol="0" anchor="t">
            <a:spAutoFit/>
          </a:bodyPr>
          <a:lstStyle/>
          <a:p>
            <a:pPr algn="r">
              <a:lnSpc>
                <a:spcPts val="2800"/>
              </a:lnSpc>
            </a:pPr>
            <a:r>
              <a:rPr lang="en-US" sz="2000" b="1" dirty="0">
                <a:solidFill>
                  <a:srgbClr val="000000"/>
                </a:solidFill>
                <a:latin typeface="Garet Bold"/>
                <a:ea typeface="Garet Bold"/>
                <a:cs typeface="Garet Bold"/>
                <a:sym typeface="Garet Bold"/>
              </a:rPr>
              <a:t>1</a:t>
            </a:r>
            <a:endParaRPr lang="en-US" sz="2000" b="1">
              <a:solidFill>
                <a:srgbClr val="000000"/>
              </a:solidFill>
              <a:latin typeface="Garet Bold"/>
              <a:ea typeface="Garet Bold"/>
              <a:cs typeface="Garet Bold"/>
              <a:sym typeface="Garet Bold"/>
            </a:endParaRPr>
          </a:p>
        </p:txBody>
      </p:sp>
      <p:sp>
        <p:nvSpPr>
          <p:cNvPr id="9" name="TextBox 9"/>
          <p:cNvSpPr txBox="1"/>
          <p:nvPr/>
        </p:nvSpPr>
        <p:spPr>
          <a:xfrm>
            <a:off x="10809234" y="2035046"/>
            <a:ext cx="6450066" cy="712625"/>
          </a:xfrm>
          <a:prstGeom prst="rect">
            <a:avLst/>
          </a:prstGeom>
        </p:spPr>
        <p:txBody>
          <a:bodyPr lIns="0" tIns="0" rIns="0" bIns="0" rtlCol="0" anchor="t">
            <a:spAutoFit/>
          </a:bodyPr>
          <a:lstStyle/>
          <a:p>
            <a:pPr marL="0" lvl="0" indent="0" algn="r">
              <a:lnSpc>
                <a:spcPts val="5200"/>
              </a:lnSpc>
              <a:spcBef>
                <a:spcPct val="0"/>
              </a:spcBef>
            </a:pPr>
            <a:r>
              <a:rPr lang="en-US" sz="5200" spc="-410">
                <a:solidFill>
                  <a:srgbClr val="000000"/>
                </a:solidFill>
                <a:latin typeface="Archivo Black"/>
                <a:ea typeface="Archivo Black"/>
                <a:cs typeface="Archivo Black"/>
                <a:sym typeface="Archivo Black"/>
              </a:rPr>
              <a:t>Introduction</a:t>
            </a:r>
          </a:p>
        </p:txBody>
      </p:sp>
      <p:sp>
        <p:nvSpPr>
          <p:cNvPr id="10" name="TextBox 10"/>
          <p:cNvSpPr txBox="1"/>
          <p:nvPr/>
        </p:nvSpPr>
        <p:spPr>
          <a:xfrm>
            <a:off x="1028700" y="6633151"/>
            <a:ext cx="467670" cy="346249"/>
          </a:xfrm>
          <a:prstGeom prst="rect">
            <a:avLst/>
          </a:prstGeom>
        </p:spPr>
        <p:txBody>
          <a:bodyPr lIns="0" tIns="0" rIns="0" bIns="0" rtlCol="0" anchor="t">
            <a:spAutoFit/>
          </a:bodyPr>
          <a:lstStyle/>
          <a:p>
            <a:pPr algn="r">
              <a:lnSpc>
                <a:spcPts val="2800"/>
              </a:lnSpc>
            </a:pPr>
            <a:r>
              <a:rPr lang="en-US" sz="2000" b="1" dirty="0">
                <a:solidFill>
                  <a:srgbClr val="000000"/>
                </a:solidFill>
                <a:latin typeface="Garet Bold"/>
                <a:ea typeface="Garet Bold"/>
                <a:cs typeface="Garet Bold"/>
                <a:sym typeface="Garet Bold"/>
              </a:rPr>
              <a:t>3</a:t>
            </a:r>
            <a:endParaRPr lang="en-US" sz="2000" b="1">
              <a:solidFill>
                <a:srgbClr val="000000"/>
              </a:solidFill>
              <a:latin typeface="Garet Bold"/>
              <a:ea typeface="Garet Bold"/>
              <a:cs typeface="Garet Bold"/>
              <a:sym typeface="Garet Bold"/>
            </a:endParaRPr>
          </a:p>
        </p:txBody>
      </p:sp>
      <p:sp>
        <p:nvSpPr>
          <p:cNvPr id="11" name="TextBox 11"/>
          <p:cNvSpPr txBox="1"/>
          <p:nvPr/>
        </p:nvSpPr>
        <p:spPr>
          <a:xfrm>
            <a:off x="1736732" y="6633151"/>
            <a:ext cx="3120902" cy="1749425"/>
          </a:xfrm>
          <a:prstGeom prst="rect">
            <a:avLst/>
          </a:prstGeom>
        </p:spPr>
        <p:txBody>
          <a:bodyPr lIns="0" tIns="0" rIns="0" bIns="0" rtlCol="0" anchor="t">
            <a:spAutoFit/>
          </a:bodyPr>
          <a:lstStyle/>
          <a:p>
            <a:pPr algn="l">
              <a:lnSpc>
                <a:spcPts val="2800"/>
              </a:lnSpc>
            </a:pPr>
            <a:r>
              <a:rPr lang="en-US" sz="2000">
                <a:solidFill>
                  <a:srgbClr val="000000"/>
                </a:solidFill>
                <a:latin typeface="Garet"/>
                <a:ea typeface="Garet"/>
                <a:cs typeface="Garet"/>
                <a:sym typeface="Garet"/>
              </a:rPr>
              <a:t>It considers weather, season, and event type, making sure your outfit is not just fashionable but also practical.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a:off x="5174916" y="0"/>
            <a:ext cx="12826535" cy="10287000"/>
          </a:xfrm>
          <a:custGeom>
            <a:avLst/>
            <a:gdLst/>
            <a:ahLst/>
            <a:cxnLst/>
            <a:rect l="l" t="t" r="r" b="b"/>
            <a:pathLst>
              <a:path w="12826535" h="10287000">
                <a:moveTo>
                  <a:pt x="0" y="0"/>
                </a:moveTo>
                <a:lnTo>
                  <a:pt x="12826536" y="0"/>
                </a:lnTo>
                <a:lnTo>
                  <a:pt x="12826536" y="10287000"/>
                </a:lnTo>
                <a:lnTo>
                  <a:pt x="0" y="10287000"/>
                </a:lnTo>
                <a:lnTo>
                  <a:pt x="0" y="0"/>
                </a:lnTo>
                <a:close/>
              </a:path>
            </a:pathLst>
          </a:custGeom>
          <a:blipFill>
            <a:blip r:embed="rId3"/>
            <a:stretch>
              <a:fillRect l="-17620" t="-4035" r="-15066" b="-3502"/>
            </a:stretch>
          </a:blipFill>
        </p:spPr>
        <p:txBody>
          <a:bodyPr/>
          <a:lstStyle/>
          <a:p>
            <a:endParaRPr lang="en-US"/>
          </a:p>
        </p:txBody>
      </p:sp>
      <p:sp>
        <p:nvSpPr>
          <p:cNvPr id="4" name="TextBox 4"/>
          <p:cNvSpPr txBox="1"/>
          <p:nvPr/>
        </p:nvSpPr>
        <p:spPr>
          <a:xfrm>
            <a:off x="486154" y="1314450"/>
            <a:ext cx="4326839" cy="1531372"/>
          </a:xfrm>
          <a:prstGeom prst="rect">
            <a:avLst/>
          </a:prstGeom>
        </p:spPr>
        <p:txBody>
          <a:bodyPr lIns="0" tIns="0" rIns="0" bIns="0" rtlCol="0" anchor="t">
            <a:spAutoFit/>
          </a:bodyPr>
          <a:lstStyle/>
          <a:p>
            <a:pPr algn="l">
              <a:lnSpc>
                <a:spcPts val="5666"/>
              </a:lnSpc>
            </a:pPr>
            <a:r>
              <a:rPr lang="en-US" sz="7264" spc="-573">
                <a:solidFill>
                  <a:srgbClr val="000000"/>
                </a:solidFill>
                <a:latin typeface="Archivo Black"/>
                <a:ea typeface="Archivo Black"/>
                <a:cs typeface="Archivo Black"/>
                <a:sym typeface="Archivo Black"/>
              </a:rPr>
              <a:t>Literature</a:t>
            </a:r>
          </a:p>
          <a:p>
            <a:pPr marL="0" lvl="0" indent="0" algn="l">
              <a:lnSpc>
                <a:spcPts val="5666"/>
              </a:lnSpc>
              <a:spcBef>
                <a:spcPct val="0"/>
              </a:spcBef>
            </a:pPr>
            <a:r>
              <a:rPr lang="en-US" sz="7264" spc="-573">
                <a:solidFill>
                  <a:srgbClr val="000000"/>
                </a:solidFill>
                <a:latin typeface="Archivo Black"/>
                <a:ea typeface="Archivo Black"/>
                <a:cs typeface="Archivo Black"/>
                <a:sym typeface="Archivo Black"/>
              </a:rPr>
              <a:t>Survey</a:t>
            </a:r>
          </a:p>
        </p:txBody>
      </p:sp>
      <p:sp>
        <p:nvSpPr>
          <p:cNvPr id="5" name="Freeform 5"/>
          <p:cNvSpPr/>
          <p:nvPr/>
        </p:nvSpPr>
        <p:spPr>
          <a:xfrm>
            <a:off x="486154" y="3216749"/>
            <a:ext cx="4326839" cy="1691401"/>
          </a:xfrm>
          <a:custGeom>
            <a:avLst/>
            <a:gdLst/>
            <a:ahLst/>
            <a:cxnLst/>
            <a:rect l="l" t="t" r="r" b="b"/>
            <a:pathLst>
              <a:path w="4326839" h="1691401">
                <a:moveTo>
                  <a:pt x="0" y="0"/>
                </a:moveTo>
                <a:lnTo>
                  <a:pt x="4326839" y="0"/>
                </a:lnTo>
                <a:lnTo>
                  <a:pt x="4326839" y="1691401"/>
                </a:lnTo>
                <a:lnTo>
                  <a:pt x="0" y="16914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1896458" y="1247775"/>
            <a:ext cx="14904074" cy="662237"/>
          </a:xfrm>
          <a:prstGeom prst="rect">
            <a:avLst/>
          </a:prstGeom>
        </p:spPr>
        <p:txBody>
          <a:bodyPr lIns="0" tIns="0" rIns="0" bIns="0" rtlCol="0" anchor="t">
            <a:spAutoFit/>
          </a:bodyPr>
          <a:lstStyle/>
          <a:p>
            <a:pPr marL="0" lvl="0" indent="0" algn="l">
              <a:lnSpc>
                <a:spcPts val="4530"/>
              </a:lnSpc>
              <a:spcBef>
                <a:spcPct val="0"/>
              </a:spcBef>
            </a:pPr>
            <a:r>
              <a:rPr lang="en-US" sz="5808" spc="-458" dirty="0">
                <a:solidFill>
                  <a:srgbClr val="000000"/>
                </a:solidFill>
                <a:latin typeface="Archivo Black"/>
                <a:ea typeface="Archivo Black"/>
                <a:cs typeface="Archivo Black"/>
                <a:sym typeface="Archivo Black"/>
              </a:rPr>
              <a:t>Research gaps and need for STYQLO</a:t>
            </a:r>
          </a:p>
        </p:txBody>
      </p:sp>
      <p:sp>
        <p:nvSpPr>
          <p:cNvPr id="4" name="TextBox 4"/>
          <p:cNvSpPr txBox="1"/>
          <p:nvPr/>
        </p:nvSpPr>
        <p:spPr>
          <a:xfrm>
            <a:off x="286355" y="2915482"/>
            <a:ext cx="17715289" cy="6139360"/>
          </a:xfrm>
          <a:prstGeom prst="rect">
            <a:avLst/>
          </a:prstGeom>
        </p:spPr>
        <p:txBody>
          <a:bodyPr lIns="0" tIns="0" rIns="0" bIns="0" rtlCol="0" anchor="t">
            <a:spAutoFit/>
          </a:bodyPr>
          <a:lstStyle/>
          <a:p>
            <a:pPr algn="l">
              <a:lnSpc>
                <a:spcPts val="5410"/>
              </a:lnSpc>
            </a:pPr>
            <a:r>
              <a:rPr lang="en-US" sz="3864" dirty="0">
                <a:solidFill>
                  <a:srgbClr val="000000"/>
                </a:solidFill>
                <a:latin typeface="Canva Sans"/>
                <a:ea typeface="Canva Sans"/>
                <a:cs typeface="Canva Sans"/>
                <a:sym typeface="Canva Sans"/>
              </a:rPr>
              <a:t>1) STYQLO gives suggestions based on current weather, season and occasion.</a:t>
            </a:r>
          </a:p>
          <a:p>
            <a:pPr algn="l">
              <a:lnSpc>
                <a:spcPts val="5410"/>
              </a:lnSpc>
            </a:pPr>
            <a:r>
              <a:rPr lang="en-US" sz="3864" dirty="0">
                <a:solidFill>
                  <a:srgbClr val="000000"/>
                </a:solidFill>
                <a:latin typeface="Canva Sans"/>
                <a:ea typeface="Canva Sans"/>
                <a:cs typeface="Canva Sans"/>
                <a:sym typeface="Canva Sans"/>
              </a:rPr>
              <a:t>2) Existing research does not make sense for the user’s real life situation.</a:t>
            </a:r>
          </a:p>
          <a:p>
            <a:pPr algn="l">
              <a:lnSpc>
                <a:spcPts val="5410"/>
              </a:lnSpc>
            </a:pPr>
            <a:r>
              <a:rPr lang="en-US" sz="3864" dirty="0">
                <a:solidFill>
                  <a:srgbClr val="000000"/>
                </a:solidFill>
                <a:latin typeface="Canva Sans"/>
                <a:ea typeface="Canva Sans"/>
                <a:cs typeface="Canva Sans"/>
                <a:sym typeface="Canva Sans"/>
              </a:rPr>
              <a:t>3) STYQLO focuses on real time data including brand availability, prices and direct shopping links.</a:t>
            </a:r>
          </a:p>
          <a:p>
            <a:pPr algn="l">
              <a:lnSpc>
                <a:spcPts val="5410"/>
              </a:lnSpc>
            </a:pPr>
            <a:r>
              <a:rPr lang="en-US" sz="3864" dirty="0">
                <a:solidFill>
                  <a:srgbClr val="000000"/>
                </a:solidFill>
                <a:latin typeface="Canva Sans"/>
                <a:ea typeface="Canva Sans"/>
                <a:cs typeface="Canva Sans"/>
                <a:sym typeface="Canva Sans"/>
              </a:rPr>
              <a:t>4) It creates a complete look that includes clothing, footwear, and accessories.</a:t>
            </a:r>
          </a:p>
          <a:p>
            <a:pPr algn="l">
              <a:lnSpc>
                <a:spcPts val="5410"/>
              </a:lnSpc>
            </a:pPr>
            <a:r>
              <a:rPr lang="en-US" sz="3864" dirty="0">
                <a:solidFill>
                  <a:srgbClr val="000000"/>
                </a:solidFill>
                <a:latin typeface="Canva Sans"/>
                <a:ea typeface="Canva Sans"/>
                <a:cs typeface="Canva Sans"/>
                <a:sym typeface="Canva Sans"/>
              </a:rPr>
              <a:t># STYQLO IS MADE FOR USERS WHO WANT COMPLETE FASHION OUTFIT INSTEAD OF SINGLE ITEM SUGGESTION.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6129865" y="3031067"/>
            <a:ext cx="11548535" cy="5557749"/>
          </a:xfrm>
          <a:prstGeom prst="rect">
            <a:avLst/>
          </a:prstGeom>
        </p:spPr>
        <p:txBody>
          <a:bodyPr wrap="square" lIns="0" tIns="0" rIns="0" bIns="0" rtlCol="0" anchor="t">
            <a:spAutoFit/>
          </a:bodyPr>
          <a:lstStyle/>
          <a:p>
            <a:pPr algn="just">
              <a:lnSpc>
                <a:spcPts val="3478"/>
              </a:lnSpc>
            </a:pPr>
            <a:r>
              <a:rPr lang="en-US" sz="3200" dirty="0">
                <a:solidFill>
                  <a:srgbClr val="000000"/>
                </a:solidFill>
                <a:latin typeface="Garet"/>
                <a:ea typeface="Garet"/>
                <a:cs typeface="Garet"/>
                <a:sym typeface="Garet"/>
              </a:rPr>
              <a:t>Picking the right outfit can be exciting, but it’s often a stressful and time-consuming process. Many people struggle with questions like, 'What should I wear to this event?' Does this outfit suit my body type? Will it match the weather or the occasion? Traditional fashion apps usually show generic suggestions or individual clothing items, without considering your personal style, body shape, or the context. There’s a clear need for a smart, AI-powered fashion assistant that can understand your preferences, suggest full outfits, provide virtual try-on experiences, and integrate shopping options seamlessly</a:t>
            </a:r>
            <a:r>
              <a:rPr lang="en-US" sz="2800" dirty="0">
                <a:solidFill>
                  <a:srgbClr val="000000"/>
                </a:solidFill>
                <a:latin typeface="Garet"/>
                <a:ea typeface="Garet"/>
                <a:cs typeface="Garet"/>
                <a:sym typeface="Garet"/>
              </a:rPr>
              <a:t>. </a:t>
            </a:r>
          </a:p>
        </p:txBody>
      </p:sp>
      <p:sp>
        <p:nvSpPr>
          <p:cNvPr id="4" name="Freeform 4"/>
          <p:cNvSpPr/>
          <p:nvPr/>
        </p:nvSpPr>
        <p:spPr>
          <a:xfrm>
            <a:off x="0" y="0"/>
            <a:ext cx="5172155" cy="5143500"/>
          </a:xfrm>
          <a:custGeom>
            <a:avLst/>
            <a:gdLst/>
            <a:ahLst/>
            <a:cxnLst/>
            <a:rect l="l" t="t" r="r" b="b"/>
            <a:pathLst>
              <a:path w="5172155" h="5143500">
                <a:moveTo>
                  <a:pt x="0" y="0"/>
                </a:moveTo>
                <a:lnTo>
                  <a:pt x="5172155" y="0"/>
                </a:lnTo>
                <a:lnTo>
                  <a:pt x="5172155" y="5143500"/>
                </a:lnTo>
                <a:lnTo>
                  <a:pt x="0" y="5143500"/>
                </a:lnTo>
                <a:lnTo>
                  <a:pt x="0" y="0"/>
                </a:lnTo>
                <a:close/>
              </a:path>
            </a:pathLst>
          </a:custGeom>
          <a:blipFill>
            <a:blip r:embed="rId3"/>
            <a:stretch>
              <a:fillRect l="-10714" r="-7245" b="-2442"/>
            </a:stretch>
          </a:blipFill>
        </p:spPr>
        <p:txBody>
          <a:bodyPr/>
          <a:lstStyle/>
          <a:p>
            <a:endParaRPr lang="en-US"/>
          </a:p>
        </p:txBody>
      </p:sp>
      <p:sp>
        <p:nvSpPr>
          <p:cNvPr id="5" name="Freeform 5"/>
          <p:cNvSpPr/>
          <p:nvPr/>
        </p:nvSpPr>
        <p:spPr>
          <a:xfrm>
            <a:off x="0" y="4904956"/>
            <a:ext cx="5172155" cy="5382044"/>
          </a:xfrm>
          <a:custGeom>
            <a:avLst/>
            <a:gdLst/>
            <a:ahLst/>
            <a:cxnLst/>
            <a:rect l="l" t="t" r="r" b="b"/>
            <a:pathLst>
              <a:path w="5172155" h="5382044">
                <a:moveTo>
                  <a:pt x="0" y="0"/>
                </a:moveTo>
                <a:lnTo>
                  <a:pt x="5172155" y="0"/>
                </a:lnTo>
                <a:lnTo>
                  <a:pt x="5172155" y="5382044"/>
                </a:lnTo>
                <a:lnTo>
                  <a:pt x="0" y="5382044"/>
                </a:lnTo>
                <a:lnTo>
                  <a:pt x="0" y="0"/>
                </a:lnTo>
                <a:close/>
              </a:path>
            </a:pathLst>
          </a:custGeom>
          <a:blipFill>
            <a:blip r:embed="rId4"/>
            <a:stretch>
              <a:fillRect t="-15581" r="-3282" b="-2822"/>
            </a:stretch>
          </a:blipFill>
        </p:spPr>
        <p:txBody>
          <a:bodyPr/>
          <a:lstStyle/>
          <a:p>
            <a:endParaRPr lang="en-US"/>
          </a:p>
        </p:txBody>
      </p:sp>
      <p:sp>
        <p:nvSpPr>
          <p:cNvPr id="6" name="TextBox 6"/>
          <p:cNvSpPr txBox="1"/>
          <p:nvPr/>
        </p:nvSpPr>
        <p:spPr>
          <a:xfrm>
            <a:off x="6756400" y="1332882"/>
            <a:ext cx="10109200" cy="842988"/>
          </a:xfrm>
          <a:prstGeom prst="rect">
            <a:avLst/>
          </a:prstGeom>
        </p:spPr>
        <p:txBody>
          <a:bodyPr wrap="square" lIns="0" tIns="0" rIns="0" bIns="0" rtlCol="0" anchor="t">
            <a:spAutoFit/>
          </a:bodyPr>
          <a:lstStyle/>
          <a:p>
            <a:pPr marL="0" lvl="0" indent="0" algn="r">
              <a:lnSpc>
                <a:spcPts val="5808"/>
              </a:lnSpc>
              <a:spcBef>
                <a:spcPct val="0"/>
              </a:spcBef>
            </a:pPr>
            <a:r>
              <a:rPr lang="en-US" sz="8000" spc="-458" dirty="0">
                <a:solidFill>
                  <a:srgbClr val="000000"/>
                </a:solidFill>
                <a:latin typeface="Archivo Black"/>
                <a:ea typeface="Archivo Black"/>
                <a:cs typeface="Archivo Black"/>
                <a:sym typeface="Archivo Black"/>
              </a:rPr>
              <a:t>Problem 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7" name="Freeform 7"/>
          <p:cNvSpPr/>
          <p:nvPr/>
        </p:nvSpPr>
        <p:spPr>
          <a:xfrm>
            <a:off x="0" y="0"/>
            <a:ext cx="8483600" cy="10287000"/>
          </a:xfrm>
          <a:custGeom>
            <a:avLst/>
            <a:gdLst/>
            <a:ahLst/>
            <a:cxnLst/>
            <a:rect l="l" t="t" r="r" b="b"/>
            <a:pathLst>
              <a:path w="7628367" h="6425749">
                <a:moveTo>
                  <a:pt x="0" y="0"/>
                </a:moveTo>
                <a:lnTo>
                  <a:pt x="7628367" y="0"/>
                </a:lnTo>
                <a:lnTo>
                  <a:pt x="7628367" y="6425749"/>
                </a:lnTo>
                <a:lnTo>
                  <a:pt x="0" y="6425749"/>
                </a:lnTo>
                <a:lnTo>
                  <a:pt x="0" y="0"/>
                </a:lnTo>
                <a:close/>
              </a:path>
            </a:pathLst>
          </a:custGeom>
          <a:blipFill>
            <a:blip r:embed="rId3"/>
            <a:stretch>
              <a:fillRect t="-3794" b="-14921"/>
            </a:stretch>
          </a:blipFill>
        </p:spPr>
        <p:txBody>
          <a:bodyPr/>
          <a:lstStyle/>
          <a:p>
            <a:endParaRPr lang="en-US"/>
          </a:p>
        </p:txBody>
      </p:sp>
      <p:sp>
        <p:nvSpPr>
          <p:cNvPr id="8" name="TextBox 8"/>
          <p:cNvSpPr txBox="1"/>
          <p:nvPr/>
        </p:nvSpPr>
        <p:spPr>
          <a:xfrm>
            <a:off x="8517467" y="7221740"/>
            <a:ext cx="8246532" cy="1491306"/>
          </a:xfrm>
          <a:prstGeom prst="rect">
            <a:avLst/>
          </a:prstGeom>
        </p:spPr>
        <p:txBody>
          <a:bodyPr wrap="square" lIns="0" tIns="0" rIns="0" bIns="0" rtlCol="0" anchor="t">
            <a:spAutoFit/>
          </a:bodyPr>
          <a:lstStyle/>
          <a:p>
            <a:pPr marL="0" lvl="0" indent="0" algn="ctr">
              <a:lnSpc>
                <a:spcPts val="11348"/>
              </a:lnSpc>
              <a:spcBef>
                <a:spcPct val="0"/>
              </a:spcBef>
            </a:pPr>
            <a:r>
              <a:rPr lang="en-US" sz="11348" spc="-896">
                <a:solidFill>
                  <a:srgbClr val="000000"/>
                </a:solidFill>
                <a:latin typeface="Archivo Black"/>
                <a:ea typeface="Archivo Black"/>
                <a:cs typeface="Archivo Black"/>
                <a:sym typeface="Archivo Black"/>
              </a:rPr>
              <a:t>Objectives </a:t>
            </a:r>
          </a:p>
        </p:txBody>
      </p:sp>
      <p:sp>
        <p:nvSpPr>
          <p:cNvPr id="9" name="TextBox 9"/>
          <p:cNvSpPr txBox="1"/>
          <p:nvPr/>
        </p:nvSpPr>
        <p:spPr>
          <a:xfrm flipH="1">
            <a:off x="8517465" y="694269"/>
            <a:ext cx="1286932" cy="488595"/>
          </a:xfrm>
          <a:prstGeom prst="rect">
            <a:avLst/>
          </a:prstGeom>
        </p:spPr>
        <p:txBody>
          <a:bodyPr wrap="square" lIns="0" tIns="0" rIns="0" bIns="0" rtlCol="0" anchor="t">
            <a:spAutoFit/>
          </a:bodyPr>
          <a:lstStyle/>
          <a:p>
            <a:pPr marL="0" lvl="0" indent="0" algn="ctr">
              <a:lnSpc>
                <a:spcPts val="3840"/>
              </a:lnSpc>
              <a:spcBef>
                <a:spcPct val="0"/>
              </a:spcBef>
            </a:pPr>
            <a:r>
              <a:rPr lang="en-US" sz="3200" b="1">
                <a:solidFill>
                  <a:srgbClr val="000000"/>
                </a:solidFill>
                <a:latin typeface="Garet Bold"/>
                <a:ea typeface="Garet Bold"/>
                <a:cs typeface="Garet Bold"/>
                <a:sym typeface="Garet Bold"/>
              </a:rPr>
              <a:t> 1</a:t>
            </a:r>
          </a:p>
        </p:txBody>
      </p:sp>
      <p:sp>
        <p:nvSpPr>
          <p:cNvPr id="10" name="TextBox 10"/>
          <p:cNvSpPr txBox="1"/>
          <p:nvPr/>
        </p:nvSpPr>
        <p:spPr>
          <a:xfrm>
            <a:off x="8636001" y="1538998"/>
            <a:ext cx="1168396" cy="975908"/>
          </a:xfrm>
          <a:prstGeom prst="rect">
            <a:avLst/>
          </a:prstGeom>
        </p:spPr>
        <p:txBody>
          <a:bodyPr wrap="square" lIns="0" tIns="0" rIns="0" bIns="0" rtlCol="0" anchor="t">
            <a:spAutoFit/>
          </a:bodyPr>
          <a:lstStyle/>
          <a:p>
            <a:pPr marL="0" lvl="0" indent="0" algn="ctr">
              <a:lnSpc>
                <a:spcPts val="3840"/>
              </a:lnSpc>
              <a:spcBef>
                <a:spcPct val="0"/>
              </a:spcBef>
            </a:pPr>
            <a:endParaRPr lang="en-US" sz="3200" b="1" dirty="0">
              <a:solidFill>
                <a:srgbClr val="000000"/>
              </a:solidFill>
              <a:latin typeface="Garet Bold"/>
              <a:ea typeface="Garet Bold"/>
              <a:cs typeface="Garet Bold"/>
              <a:sym typeface="Garet Bold"/>
            </a:endParaRPr>
          </a:p>
          <a:p>
            <a:pPr marL="0" lvl="0" indent="0" algn="ctr">
              <a:lnSpc>
                <a:spcPts val="3840"/>
              </a:lnSpc>
              <a:spcBef>
                <a:spcPct val="0"/>
              </a:spcBef>
            </a:pPr>
            <a:r>
              <a:rPr lang="en-US" sz="3200" b="1">
                <a:solidFill>
                  <a:srgbClr val="000000"/>
                </a:solidFill>
                <a:latin typeface="Garet Bold"/>
                <a:ea typeface="Garet Bold"/>
                <a:cs typeface="Garet Bold"/>
                <a:sym typeface="Garet Bold"/>
              </a:rPr>
              <a:t>2</a:t>
            </a:r>
          </a:p>
        </p:txBody>
      </p:sp>
      <p:sp>
        <p:nvSpPr>
          <p:cNvPr id="11" name="TextBox 11"/>
          <p:cNvSpPr txBox="1"/>
          <p:nvPr/>
        </p:nvSpPr>
        <p:spPr>
          <a:xfrm>
            <a:off x="9652000" y="694268"/>
            <a:ext cx="8077199" cy="1103507"/>
          </a:xfrm>
          <a:prstGeom prst="rect">
            <a:avLst/>
          </a:prstGeom>
        </p:spPr>
        <p:txBody>
          <a:bodyPr wrap="square" lIns="0" tIns="0" rIns="0" bIns="0" rtlCol="0" anchor="t">
            <a:spAutoFit/>
          </a:bodyPr>
          <a:lstStyle/>
          <a:p>
            <a:pPr marL="0" lvl="0" indent="0" algn="ctr">
              <a:lnSpc>
                <a:spcPts val="2939"/>
              </a:lnSpc>
              <a:spcBef>
                <a:spcPct val="0"/>
              </a:spcBef>
            </a:pPr>
            <a:r>
              <a:rPr lang="en-US" sz="2099" dirty="0" err="1">
                <a:solidFill>
                  <a:srgbClr val="000000"/>
                </a:solidFill>
                <a:latin typeface="Garet"/>
                <a:ea typeface="Garet"/>
                <a:cs typeface="Garet"/>
                <a:sym typeface="Garet"/>
              </a:rPr>
              <a:t>Personalised</a:t>
            </a:r>
            <a:r>
              <a:rPr lang="en-US" sz="2099" u="none">
                <a:solidFill>
                  <a:srgbClr val="000000"/>
                </a:solidFill>
                <a:latin typeface="Garet"/>
                <a:ea typeface="Garet"/>
                <a:cs typeface="Garet"/>
                <a:sym typeface="Garet"/>
              </a:rPr>
              <a:t> Outfit Suggestions – To give users fashion recommendations that truly fit their body type, style preferences, and the occasion.</a:t>
            </a:r>
          </a:p>
        </p:txBody>
      </p:sp>
      <p:sp>
        <p:nvSpPr>
          <p:cNvPr id="12" name="TextBox 12"/>
          <p:cNvSpPr txBox="1"/>
          <p:nvPr/>
        </p:nvSpPr>
        <p:spPr>
          <a:xfrm>
            <a:off x="9651999" y="2018445"/>
            <a:ext cx="8077200" cy="1103507"/>
          </a:xfrm>
          <a:prstGeom prst="rect">
            <a:avLst/>
          </a:prstGeom>
        </p:spPr>
        <p:txBody>
          <a:bodyPr wrap="square" lIns="0" tIns="0" rIns="0" bIns="0" rtlCol="0" anchor="t">
            <a:spAutoFit/>
          </a:bodyPr>
          <a:lstStyle/>
          <a:p>
            <a:pPr marL="0" lvl="0" indent="0" algn="ctr">
              <a:lnSpc>
                <a:spcPts val="2939"/>
              </a:lnSpc>
              <a:spcBef>
                <a:spcPct val="0"/>
              </a:spcBef>
            </a:pPr>
            <a:r>
              <a:rPr lang="en-US" sz="2099">
                <a:solidFill>
                  <a:srgbClr val="000000"/>
                </a:solidFill>
                <a:latin typeface="Garet"/>
                <a:ea typeface="Garet"/>
                <a:cs typeface="Garet"/>
                <a:sym typeface="Garet"/>
              </a:rPr>
              <a:t>Smart Sty</a:t>
            </a:r>
            <a:r>
              <a:rPr lang="en-US" sz="2099" u="none">
                <a:solidFill>
                  <a:srgbClr val="000000"/>
                </a:solidFill>
                <a:latin typeface="Garet"/>
                <a:ea typeface="Garet"/>
                <a:cs typeface="Garet"/>
                <a:sym typeface="Garet"/>
              </a:rPr>
              <a:t>ling for Any Situation – To factor in weather, season, and event type, ensuring outfits are not only stylish but practical.</a:t>
            </a:r>
          </a:p>
        </p:txBody>
      </p:sp>
      <p:sp>
        <p:nvSpPr>
          <p:cNvPr id="13" name="TextBox 13"/>
          <p:cNvSpPr txBox="1"/>
          <p:nvPr/>
        </p:nvSpPr>
        <p:spPr>
          <a:xfrm>
            <a:off x="8483601" y="3407647"/>
            <a:ext cx="1456265" cy="488595"/>
          </a:xfrm>
          <a:prstGeom prst="rect">
            <a:avLst/>
          </a:prstGeom>
        </p:spPr>
        <p:txBody>
          <a:bodyPr wrap="square" lIns="0" tIns="0" rIns="0" bIns="0" rtlCol="0" anchor="t">
            <a:spAutoFit/>
          </a:bodyPr>
          <a:lstStyle/>
          <a:p>
            <a:pPr marL="0" lvl="0" indent="0" algn="ctr">
              <a:lnSpc>
                <a:spcPts val="3840"/>
              </a:lnSpc>
              <a:spcBef>
                <a:spcPct val="0"/>
              </a:spcBef>
            </a:pPr>
            <a:r>
              <a:rPr lang="en-US" sz="3200" b="1">
                <a:solidFill>
                  <a:srgbClr val="000000"/>
                </a:solidFill>
                <a:latin typeface="Garet Bold"/>
                <a:ea typeface="Garet Bold"/>
                <a:cs typeface="Garet Bold"/>
                <a:sym typeface="Garet Bold"/>
              </a:rPr>
              <a:t>3</a:t>
            </a:r>
          </a:p>
        </p:txBody>
      </p:sp>
      <p:sp>
        <p:nvSpPr>
          <p:cNvPr id="14" name="TextBox 14"/>
          <p:cNvSpPr txBox="1"/>
          <p:nvPr/>
        </p:nvSpPr>
        <p:spPr>
          <a:xfrm>
            <a:off x="9804399" y="3359637"/>
            <a:ext cx="7721601" cy="731611"/>
          </a:xfrm>
          <a:prstGeom prst="rect">
            <a:avLst/>
          </a:prstGeom>
        </p:spPr>
        <p:txBody>
          <a:bodyPr wrap="square" lIns="0" tIns="0" rIns="0" bIns="0" rtlCol="0" anchor="t">
            <a:spAutoFit/>
          </a:bodyPr>
          <a:lstStyle/>
          <a:p>
            <a:pPr marL="0" lvl="0" indent="0" algn="ctr">
              <a:lnSpc>
                <a:spcPts val="2939"/>
              </a:lnSpc>
              <a:spcBef>
                <a:spcPct val="0"/>
              </a:spcBef>
            </a:pPr>
            <a:r>
              <a:rPr lang="en-US" sz="2099">
                <a:solidFill>
                  <a:srgbClr val="000000"/>
                </a:solidFill>
                <a:latin typeface="Garet"/>
                <a:ea typeface="Garet"/>
                <a:cs typeface="Garet"/>
                <a:sym typeface="Garet"/>
              </a:rPr>
              <a:t>To sh</a:t>
            </a:r>
            <a:r>
              <a:rPr lang="en-US" sz="2099" u="none">
                <a:solidFill>
                  <a:srgbClr val="000000"/>
                </a:solidFill>
                <a:latin typeface="Garet"/>
                <a:ea typeface="Garet"/>
                <a:cs typeface="Garet"/>
                <a:sym typeface="Garet"/>
              </a:rPr>
              <a:t>ow brands, prices, and links, so users can easily find and compare the recommended outfits.</a:t>
            </a:r>
          </a:p>
        </p:txBody>
      </p:sp>
      <p:sp>
        <p:nvSpPr>
          <p:cNvPr id="15" name="TextBox 15"/>
          <p:cNvSpPr txBox="1"/>
          <p:nvPr/>
        </p:nvSpPr>
        <p:spPr>
          <a:xfrm>
            <a:off x="8636001" y="4658933"/>
            <a:ext cx="1168396" cy="488595"/>
          </a:xfrm>
          <a:prstGeom prst="rect">
            <a:avLst/>
          </a:prstGeom>
        </p:spPr>
        <p:txBody>
          <a:bodyPr wrap="square" lIns="0" tIns="0" rIns="0" bIns="0" rtlCol="0" anchor="t">
            <a:spAutoFit/>
          </a:bodyPr>
          <a:lstStyle/>
          <a:p>
            <a:pPr marL="0" lvl="0" indent="0" algn="ctr">
              <a:lnSpc>
                <a:spcPts val="3840"/>
              </a:lnSpc>
              <a:spcBef>
                <a:spcPct val="0"/>
              </a:spcBef>
            </a:pPr>
            <a:r>
              <a:rPr lang="en-US" sz="3200" b="1">
                <a:solidFill>
                  <a:srgbClr val="000000"/>
                </a:solidFill>
                <a:latin typeface="Garet Bold"/>
                <a:ea typeface="Garet Bold"/>
                <a:cs typeface="Garet Bold"/>
                <a:sym typeface="Garet Bold"/>
              </a:rPr>
              <a:t>4</a:t>
            </a:r>
          </a:p>
        </p:txBody>
      </p:sp>
      <p:sp>
        <p:nvSpPr>
          <p:cNvPr id="16" name="TextBox 16"/>
          <p:cNvSpPr txBox="1"/>
          <p:nvPr/>
        </p:nvSpPr>
        <p:spPr>
          <a:xfrm>
            <a:off x="9804398" y="4508362"/>
            <a:ext cx="7721601" cy="1103507"/>
          </a:xfrm>
          <a:prstGeom prst="rect">
            <a:avLst/>
          </a:prstGeom>
        </p:spPr>
        <p:txBody>
          <a:bodyPr wrap="square" lIns="0" tIns="0" rIns="0" bIns="0" rtlCol="0" anchor="t">
            <a:spAutoFit/>
          </a:bodyPr>
          <a:lstStyle/>
          <a:p>
            <a:pPr marL="0" lvl="0" indent="0" algn="ctr">
              <a:lnSpc>
                <a:spcPts val="2939"/>
              </a:lnSpc>
              <a:spcBef>
                <a:spcPct val="0"/>
              </a:spcBef>
            </a:pPr>
            <a:r>
              <a:rPr lang="en-US" sz="2099">
                <a:solidFill>
                  <a:srgbClr val="000000"/>
                </a:solidFill>
                <a:latin typeface="Garet"/>
                <a:ea typeface="Garet"/>
                <a:cs typeface="Garet"/>
                <a:sym typeface="Garet"/>
              </a:rPr>
              <a:t>Comp</a:t>
            </a:r>
            <a:r>
              <a:rPr lang="en-US" sz="2099" u="none">
                <a:solidFill>
                  <a:srgbClr val="000000"/>
                </a:solidFill>
                <a:latin typeface="Garet"/>
                <a:ea typeface="Garet"/>
                <a:cs typeface="Garet"/>
                <a:sym typeface="Garet"/>
              </a:rPr>
              <a:t>lete Looks, Not Just Items – To create coordinated outfits, including clothing, accessories, and shoes, so users always have a ready-to-wear style.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72515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4" name="TextBox 4"/>
          <p:cNvSpPr txBox="1"/>
          <p:nvPr/>
        </p:nvSpPr>
        <p:spPr>
          <a:xfrm>
            <a:off x="1028700" y="438150"/>
            <a:ext cx="13734033" cy="1162050"/>
          </a:xfrm>
          <a:prstGeom prst="rect">
            <a:avLst/>
          </a:prstGeom>
        </p:spPr>
        <p:txBody>
          <a:bodyPr lIns="0" tIns="0" rIns="0" bIns="0" rtlCol="0" anchor="t">
            <a:spAutoFit/>
          </a:bodyPr>
          <a:lstStyle/>
          <a:p>
            <a:pPr algn="l">
              <a:lnSpc>
                <a:spcPts val="9000"/>
              </a:lnSpc>
            </a:pPr>
            <a:r>
              <a:rPr lang="en-US" sz="7500">
                <a:solidFill>
                  <a:srgbClr val="000000"/>
                </a:solidFill>
                <a:latin typeface="Archivo Black"/>
                <a:ea typeface="Archivo Black"/>
                <a:cs typeface="Archivo Black"/>
                <a:sym typeface="Archivo Black"/>
              </a:rPr>
              <a:t>Methodology </a:t>
            </a:r>
          </a:p>
        </p:txBody>
      </p:sp>
      <p:grpSp>
        <p:nvGrpSpPr>
          <p:cNvPr id="5" name="Group 5"/>
          <p:cNvGrpSpPr/>
          <p:nvPr/>
        </p:nvGrpSpPr>
        <p:grpSpPr>
          <a:xfrm>
            <a:off x="578350" y="2245940"/>
            <a:ext cx="17454352" cy="4058444"/>
            <a:chOff x="0" y="-28575"/>
            <a:chExt cx="23272469" cy="5411256"/>
          </a:xfrm>
        </p:grpSpPr>
        <p:sp>
          <p:nvSpPr>
            <p:cNvPr id="6" name="TextBox 6"/>
            <p:cNvSpPr txBox="1"/>
            <p:nvPr/>
          </p:nvSpPr>
          <p:spPr>
            <a:xfrm>
              <a:off x="0" y="-28575"/>
              <a:ext cx="23272469" cy="654709"/>
            </a:xfrm>
            <a:prstGeom prst="rect">
              <a:avLst/>
            </a:prstGeom>
          </p:spPr>
          <p:txBody>
            <a:bodyPr lIns="0" tIns="0" rIns="0" bIns="0" rtlCol="0" anchor="t">
              <a:spAutoFit/>
            </a:bodyPr>
            <a:lstStyle/>
            <a:p>
              <a:pPr marL="0" lvl="0" indent="0" algn="l">
                <a:lnSpc>
                  <a:spcPts val="3917"/>
                </a:lnSpc>
                <a:spcBef>
                  <a:spcPct val="0"/>
                </a:spcBef>
              </a:pPr>
              <a:r>
                <a:rPr lang="en-US" sz="3013" b="1" dirty="0">
                  <a:solidFill>
                    <a:srgbClr val="000000"/>
                  </a:solidFill>
                  <a:latin typeface="Garet Bold"/>
                  <a:ea typeface="Garet Bold"/>
                  <a:cs typeface="Garet Bold"/>
                  <a:sym typeface="Garet Bold"/>
                </a:rPr>
                <a:t> 1 Understanding the User</a:t>
              </a:r>
            </a:p>
          </p:txBody>
        </p:sp>
        <p:sp>
          <p:nvSpPr>
            <p:cNvPr id="7" name="TextBox 7"/>
            <p:cNvSpPr txBox="1"/>
            <p:nvPr/>
          </p:nvSpPr>
          <p:spPr>
            <a:xfrm>
              <a:off x="0" y="754710"/>
              <a:ext cx="23272469" cy="4627971"/>
            </a:xfrm>
            <a:prstGeom prst="rect">
              <a:avLst/>
            </a:prstGeom>
          </p:spPr>
          <p:txBody>
            <a:bodyPr lIns="0" tIns="0" rIns="0" bIns="0" rtlCol="0" anchor="t">
              <a:spAutoFit/>
            </a:bodyPr>
            <a:lstStyle/>
            <a:p>
              <a:pPr algn="l">
                <a:lnSpc>
                  <a:spcPts val="3447"/>
                </a:lnSpc>
              </a:pPr>
              <a:r>
                <a:rPr lang="en-US" sz="2651" dirty="0">
                  <a:solidFill>
                    <a:srgbClr val="000000"/>
                  </a:solidFill>
                  <a:latin typeface="Garet"/>
                  <a:ea typeface="Garet"/>
                  <a:cs typeface="Garet"/>
                  <a:sym typeface="Garet"/>
                </a:rPr>
                <a:t>We start by asking simple, familiar questions:</a:t>
              </a:r>
            </a:p>
            <a:p>
              <a:pPr algn="l">
                <a:lnSpc>
                  <a:spcPts val="3447"/>
                </a:lnSpc>
              </a:pPr>
              <a:r>
                <a:rPr lang="en-US" sz="2651" dirty="0">
                  <a:solidFill>
                    <a:srgbClr val="000000"/>
                  </a:solidFill>
                  <a:latin typeface="Garet"/>
                  <a:ea typeface="Garet"/>
                  <a:cs typeface="Garet"/>
                  <a:sym typeface="Garet"/>
                </a:rPr>
                <a:t> • What’s your preferred style?</a:t>
              </a:r>
            </a:p>
            <a:p>
              <a:pPr algn="l">
                <a:lnSpc>
                  <a:spcPts val="3447"/>
                </a:lnSpc>
              </a:pPr>
              <a:r>
                <a:rPr lang="en-US" sz="2651" dirty="0">
                  <a:solidFill>
                    <a:srgbClr val="000000"/>
                  </a:solidFill>
                  <a:latin typeface="Garet"/>
                  <a:ea typeface="Garet"/>
                  <a:cs typeface="Garet"/>
                  <a:sym typeface="Garet"/>
                </a:rPr>
                <a:t> • What kind of event are you dressing for?</a:t>
              </a:r>
            </a:p>
            <a:p>
              <a:pPr algn="l">
                <a:lnSpc>
                  <a:spcPts val="3447"/>
                </a:lnSpc>
              </a:pPr>
              <a:r>
                <a:rPr lang="en-US" sz="2651" dirty="0">
                  <a:solidFill>
                    <a:srgbClr val="000000"/>
                  </a:solidFill>
                  <a:latin typeface="Garet"/>
                  <a:ea typeface="Garet"/>
                  <a:cs typeface="Garet"/>
                  <a:sym typeface="Garet"/>
                </a:rPr>
                <a:t> • What’s the weather like today?</a:t>
              </a:r>
            </a:p>
            <a:p>
              <a:pPr algn="l">
                <a:lnSpc>
                  <a:spcPts val="3447"/>
                </a:lnSpc>
              </a:pPr>
              <a:r>
                <a:rPr lang="en-US" sz="2651" dirty="0">
                  <a:solidFill>
                    <a:srgbClr val="000000"/>
                  </a:solidFill>
                  <a:latin typeface="Garet"/>
                  <a:ea typeface="Garet"/>
                  <a:cs typeface="Garet"/>
                  <a:sym typeface="Garet"/>
                </a:rPr>
                <a:t> • What colors make you feel confident?</a:t>
              </a:r>
            </a:p>
            <a:p>
              <a:pPr algn="l">
                <a:lnSpc>
                  <a:spcPts val="3447"/>
                </a:lnSpc>
              </a:pPr>
              <a:endParaRPr lang="en-US" sz="2651" dirty="0">
                <a:solidFill>
                  <a:srgbClr val="000000"/>
                </a:solidFill>
                <a:latin typeface="Garet"/>
                <a:ea typeface="Garet"/>
                <a:cs typeface="Garet"/>
                <a:sym typeface="Garet"/>
              </a:endParaRPr>
            </a:p>
            <a:p>
              <a:pPr algn="l">
                <a:lnSpc>
                  <a:spcPts val="3447"/>
                </a:lnSpc>
              </a:pPr>
              <a:r>
                <a:rPr lang="en-US" sz="2651" dirty="0">
                  <a:solidFill>
                    <a:srgbClr val="000000"/>
                  </a:solidFill>
                  <a:latin typeface="Garet"/>
                  <a:ea typeface="Garet"/>
                  <a:cs typeface="Garet"/>
                  <a:sym typeface="Garet"/>
                </a:rPr>
                <a:t>This gives STYQLO a clear picture of who the user is.</a:t>
              </a:r>
            </a:p>
            <a:p>
              <a:pPr marL="0" lvl="0" indent="0" algn="l">
                <a:lnSpc>
                  <a:spcPts val="3447"/>
                </a:lnSpc>
                <a:spcBef>
                  <a:spcPct val="0"/>
                </a:spcBef>
              </a:pPr>
              <a:endParaRPr lang="en-US" sz="2651" dirty="0">
                <a:solidFill>
                  <a:srgbClr val="000000"/>
                </a:solidFill>
                <a:latin typeface="Garet"/>
                <a:ea typeface="Garet"/>
                <a:cs typeface="Garet"/>
                <a:sym typeface="Garet"/>
              </a:endParaRPr>
            </a:p>
          </p:txBody>
        </p:sp>
      </p:grpSp>
      <p:grpSp>
        <p:nvGrpSpPr>
          <p:cNvPr id="8" name="Group 8"/>
          <p:cNvGrpSpPr/>
          <p:nvPr/>
        </p:nvGrpSpPr>
        <p:grpSpPr>
          <a:xfrm>
            <a:off x="578350" y="6462709"/>
            <a:ext cx="9992478" cy="3173191"/>
            <a:chOff x="0" y="-28575"/>
            <a:chExt cx="13323304" cy="4230919"/>
          </a:xfrm>
        </p:grpSpPr>
        <p:sp>
          <p:nvSpPr>
            <p:cNvPr id="9" name="TextBox 9"/>
            <p:cNvSpPr txBox="1"/>
            <p:nvPr/>
          </p:nvSpPr>
          <p:spPr>
            <a:xfrm>
              <a:off x="0" y="-28575"/>
              <a:ext cx="13323304" cy="669585"/>
            </a:xfrm>
            <a:prstGeom prst="rect">
              <a:avLst/>
            </a:prstGeom>
          </p:spPr>
          <p:txBody>
            <a:bodyPr lIns="0" tIns="0" rIns="0" bIns="0" rtlCol="0" anchor="t">
              <a:spAutoFit/>
            </a:bodyPr>
            <a:lstStyle/>
            <a:p>
              <a:pPr marL="0" lvl="0" indent="0" algn="l">
                <a:lnSpc>
                  <a:spcPts val="3967"/>
                </a:lnSpc>
                <a:spcBef>
                  <a:spcPct val="0"/>
                </a:spcBef>
              </a:pPr>
              <a:r>
                <a:rPr lang="en-US" sz="3052" b="1" dirty="0">
                  <a:solidFill>
                    <a:srgbClr val="000000"/>
                  </a:solidFill>
                  <a:latin typeface="Garet Bold"/>
                  <a:ea typeface="Garet Bold"/>
                  <a:cs typeface="Garet Bold"/>
                  <a:sym typeface="Garet Bold"/>
                </a:rPr>
                <a:t> 2 Extracting Style Intelligence</a:t>
              </a:r>
            </a:p>
          </p:txBody>
        </p:sp>
        <p:sp>
          <p:nvSpPr>
            <p:cNvPr id="10" name="TextBox 10"/>
            <p:cNvSpPr txBox="1"/>
            <p:nvPr/>
          </p:nvSpPr>
          <p:spPr>
            <a:xfrm>
              <a:off x="0" y="724724"/>
              <a:ext cx="13323304" cy="3477620"/>
            </a:xfrm>
            <a:prstGeom prst="rect">
              <a:avLst/>
            </a:prstGeom>
          </p:spPr>
          <p:txBody>
            <a:bodyPr lIns="0" tIns="0" rIns="0" bIns="0" rtlCol="0" anchor="t">
              <a:spAutoFit/>
            </a:bodyPr>
            <a:lstStyle/>
            <a:p>
              <a:pPr algn="l">
                <a:lnSpc>
                  <a:spcPts val="3416"/>
                </a:lnSpc>
              </a:pPr>
              <a:r>
                <a:rPr lang="en-US" sz="2628" dirty="0">
                  <a:solidFill>
                    <a:srgbClr val="000000"/>
                  </a:solidFill>
                  <a:latin typeface="Garet"/>
                  <a:ea typeface="Garet"/>
                  <a:cs typeface="Garet"/>
                  <a:sym typeface="Garet"/>
                </a:rPr>
                <a:t>Once the information is collected, STYQLO analyzes:</a:t>
              </a:r>
            </a:p>
            <a:p>
              <a:pPr algn="l">
                <a:lnSpc>
                  <a:spcPts val="3416"/>
                </a:lnSpc>
              </a:pPr>
              <a:r>
                <a:rPr lang="en-US" sz="2628" dirty="0">
                  <a:solidFill>
                    <a:srgbClr val="000000"/>
                  </a:solidFill>
                  <a:latin typeface="Garet"/>
                  <a:ea typeface="Garet"/>
                  <a:cs typeface="Garet"/>
                  <a:sym typeface="Garet"/>
                </a:rPr>
                <a:t> • Body shape and fit requirements</a:t>
              </a:r>
            </a:p>
            <a:p>
              <a:pPr algn="l">
                <a:lnSpc>
                  <a:spcPts val="3416"/>
                </a:lnSpc>
              </a:pPr>
              <a:r>
                <a:rPr lang="en-US" sz="2628" dirty="0">
                  <a:solidFill>
                    <a:srgbClr val="000000"/>
                  </a:solidFill>
                  <a:latin typeface="Garet"/>
                  <a:ea typeface="Garet"/>
                  <a:cs typeface="Garet"/>
                  <a:sym typeface="Garet"/>
                </a:rPr>
                <a:t> • Color preferences and patterns</a:t>
              </a:r>
            </a:p>
            <a:p>
              <a:pPr algn="l">
                <a:lnSpc>
                  <a:spcPts val="3416"/>
                </a:lnSpc>
              </a:pPr>
              <a:r>
                <a:rPr lang="en-US" sz="2628" dirty="0">
                  <a:solidFill>
                    <a:srgbClr val="000000"/>
                  </a:solidFill>
                  <a:latin typeface="Garet"/>
                  <a:ea typeface="Garet"/>
                  <a:cs typeface="Garet"/>
                  <a:sym typeface="Garet"/>
                </a:rPr>
                <a:t> • Style personality: casual, chic, formal, trendy</a:t>
              </a:r>
            </a:p>
            <a:p>
              <a:pPr algn="l">
                <a:lnSpc>
                  <a:spcPts val="3416"/>
                </a:lnSpc>
              </a:pPr>
              <a:r>
                <a:rPr lang="en-US" sz="2628" dirty="0">
                  <a:solidFill>
                    <a:srgbClr val="000000"/>
                  </a:solidFill>
                  <a:latin typeface="Garet"/>
                  <a:ea typeface="Garet"/>
                  <a:cs typeface="Garet"/>
                  <a:sym typeface="Garet"/>
                </a:rPr>
                <a:t> • Environmental factors like climate and season</a:t>
              </a:r>
            </a:p>
            <a:p>
              <a:pPr marL="0" lvl="0" indent="0" algn="l">
                <a:lnSpc>
                  <a:spcPts val="3416"/>
                </a:lnSpc>
                <a:spcBef>
                  <a:spcPct val="0"/>
                </a:spcBef>
              </a:pPr>
              <a:endParaRPr lang="en-US" sz="2628" dirty="0">
                <a:solidFill>
                  <a:srgbClr val="000000"/>
                </a:solidFill>
                <a:latin typeface="Garet"/>
                <a:ea typeface="Garet"/>
                <a:cs typeface="Garet"/>
                <a:sym typeface="Garet"/>
              </a:endParaRPr>
            </a:p>
          </p:txBody>
        </p:sp>
      </p:grpSp>
      <p:pic>
        <p:nvPicPr>
          <p:cNvPr id="11" name="Picture 10" descr="A group of pink swingers on a bar&#10;&#10;Description automatically generated">
            <a:extLst>
              <a:ext uri="{FF2B5EF4-FFF2-40B4-BE49-F238E27FC236}">
                <a16:creationId xmlns:a16="http://schemas.microsoft.com/office/drawing/2014/main" id="{3230582D-5AF9-D35C-BB05-17E741CBF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0828" y="2038349"/>
            <a:ext cx="6819705" cy="71395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grpSp>
        <p:nvGrpSpPr>
          <p:cNvPr id="3" name="Group 3"/>
          <p:cNvGrpSpPr/>
          <p:nvPr/>
        </p:nvGrpSpPr>
        <p:grpSpPr>
          <a:xfrm>
            <a:off x="550763" y="564248"/>
            <a:ext cx="9212780" cy="4047244"/>
            <a:chOff x="0" y="-28575"/>
            <a:chExt cx="12283707" cy="5396328"/>
          </a:xfrm>
        </p:grpSpPr>
        <p:sp>
          <p:nvSpPr>
            <p:cNvPr id="4" name="TextBox 4"/>
            <p:cNvSpPr txBox="1"/>
            <p:nvPr/>
          </p:nvSpPr>
          <p:spPr>
            <a:xfrm>
              <a:off x="0" y="-28575"/>
              <a:ext cx="12283707" cy="654283"/>
            </a:xfrm>
            <a:prstGeom prst="rect">
              <a:avLst/>
            </a:prstGeom>
          </p:spPr>
          <p:txBody>
            <a:bodyPr lIns="0" tIns="0" rIns="0" bIns="0" rtlCol="0" anchor="t">
              <a:spAutoFit/>
            </a:bodyPr>
            <a:lstStyle/>
            <a:p>
              <a:pPr marL="0" lvl="0" indent="0" algn="l">
                <a:lnSpc>
                  <a:spcPts val="3906"/>
                </a:lnSpc>
                <a:spcBef>
                  <a:spcPct val="0"/>
                </a:spcBef>
              </a:pPr>
              <a:r>
                <a:rPr lang="en-US" sz="3005" b="1" dirty="0">
                  <a:solidFill>
                    <a:srgbClr val="000000"/>
                  </a:solidFill>
                  <a:latin typeface="Garet Bold"/>
                  <a:ea typeface="Garet Bold"/>
                  <a:cs typeface="Garet Bold"/>
                  <a:sym typeface="Garet Bold"/>
                </a:rPr>
                <a:t> 3 AI-Driven Outfit Curation</a:t>
              </a:r>
            </a:p>
          </p:txBody>
        </p:sp>
        <p:sp>
          <p:nvSpPr>
            <p:cNvPr id="5" name="TextBox 5"/>
            <p:cNvSpPr txBox="1"/>
            <p:nvPr/>
          </p:nvSpPr>
          <p:spPr>
            <a:xfrm>
              <a:off x="0" y="752564"/>
              <a:ext cx="12283707" cy="4615189"/>
            </a:xfrm>
            <a:prstGeom prst="rect">
              <a:avLst/>
            </a:prstGeom>
          </p:spPr>
          <p:txBody>
            <a:bodyPr lIns="0" tIns="0" rIns="0" bIns="0" rtlCol="0" anchor="t">
              <a:spAutoFit/>
            </a:bodyPr>
            <a:lstStyle/>
            <a:p>
              <a:pPr algn="l">
                <a:lnSpc>
                  <a:spcPts val="3437"/>
                </a:lnSpc>
              </a:pPr>
              <a:r>
                <a:rPr lang="en-US" sz="2644" dirty="0">
                  <a:solidFill>
                    <a:srgbClr val="000000"/>
                  </a:solidFill>
                  <a:latin typeface="Garet"/>
                  <a:ea typeface="Garet"/>
                  <a:cs typeface="Garet"/>
                  <a:sym typeface="Garet"/>
                </a:rPr>
                <a:t>The AI looks through patterns in fashion, current trends, and user behavior.</a:t>
              </a:r>
            </a:p>
            <a:p>
              <a:pPr algn="l">
                <a:lnSpc>
                  <a:spcPts val="3437"/>
                </a:lnSpc>
              </a:pPr>
              <a:r>
                <a:rPr lang="en-US" sz="2644" dirty="0">
                  <a:solidFill>
                    <a:srgbClr val="000000"/>
                  </a:solidFill>
                  <a:latin typeface="Garet"/>
                  <a:ea typeface="Garet"/>
                  <a:cs typeface="Garet"/>
                  <a:sym typeface="Garet"/>
                </a:rPr>
                <a:t>Then it:</a:t>
              </a:r>
            </a:p>
            <a:p>
              <a:pPr algn="l">
                <a:lnSpc>
                  <a:spcPts val="3437"/>
                </a:lnSpc>
              </a:pPr>
              <a:r>
                <a:rPr lang="en-US" sz="2644" dirty="0">
                  <a:solidFill>
                    <a:srgbClr val="000000"/>
                  </a:solidFill>
                  <a:latin typeface="Garet"/>
                  <a:ea typeface="Garet"/>
                  <a:cs typeface="Garet"/>
                  <a:sym typeface="Garet"/>
                </a:rPr>
                <a:t> • Selects suitable clothing categories</a:t>
              </a:r>
            </a:p>
            <a:p>
              <a:pPr algn="l">
                <a:lnSpc>
                  <a:spcPts val="3437"/>
                </a:lnSpc>
              </a:pPr>
              <a:r>
                <a:rPr lang="en-US" sz="2644" dirty="0">
                  <a:solidFill>
                    <a:srgbClr val="000000"/>
                  </a:solidFill>
                  <a:latin typeface="Garet"/>
                  <a:ea typeface="Garet"/>
                  <a:cs typeface="Garet"/>
                  <a:sym typeface="Garet"/>
                </a:rPr>
                <a:t> • Matches top + bottom + accessories</a:t>
              </a:r>
            </a:p>
            <a:p>
              <a:pPr algn="l">
                <a:lnSpc>
                  <a:spcPts val="3437"/>
                </a:lnSpc>
              </a:pPr>
              <a:r>
                <a:rPr lang="en-US" sz="2644" dirty="0">
                  <a:solidFill>
                    <a:srgbClr val="000000"/>
                  </a:solidFill>
                  <a:latin typeface="Garet"/>
                  <a:ea typeface="Garet"/>
                  <a:cs typeface="Garet"/>
                  <a:sym typeface="Garet"/>
                </a:rPr>
                <a:t> • Ensures color harmony</a:t>
              </a:r>
            </a:p>
            <a:p>
              <a:pPr algn="l">
                <a:lnSpc>
                  <a:spcPts val="3437"/>
                </a:lnSpc>
              </a:pPr>
              <a:r>
                <a:rPr lang="en-US" sz="2644" dirty="0">
                  <a:solidFill>
                    <a:srgbClr val="000000"/>
                  </a:solidFill>
                  <a:latin typeface="Garet"/>
                  <a:ea typeface="Garet"/>
                  <a:cs typeface="Garet"/>
                  <a:sym typeface="Garet"/>
                </a:rPr>
                <a:t> • Ensures the outfit makes sense for the occasion</a:t>
              </a:r>
            </a:p>
            <a:p>
              <a:pPr marL="0" lvl="0" indent="0" algn="l">
                <a:lnSpc>
                  <a:spcPts val="3437"/>
                </a:lnSpc>
                <a:spcBef>
                  <a:spcPct val="0"/>
                </a:spcBef>
              </a:pPr>
              <a:endParaRPr lang="en-US" sz="2644" dirty="0">
                <a:solidFill>
                  <a:srgbClr val="000000"/>
                </a:solidFill>
                <a:latin typeface="Garet"/>
                <a:ea typeface="Garet"/>
                <a:cs typeface="Garet"/>
                <a:sym typeface="Garet"/>
              </a:endParaRPr>
            </a:p>
          </p:txBody>
        </p:sp>
      </p:grpSp>
      <p:grpSp>
        <p:nvGrpSpPr>
          <p:cNvPr id="6" name="Group 6"/>
          <p:cNvGrpSpPr/>
          <p:nvPr/>
        </p:nvGrpSpPr>
        <p:grpSpPr>
          <a:xfrm>
            <a:off x="724649" y="5114925"/>
            <a:ext cx="8865007" cy="3902422"/>
            <a:chOff x="0" y="-38100"/>
            <a:chExt cx="11820009" cy="5203226"/>
          </a:xfrm>
        </p:grpSpPr>
        <p:sp>
          <p:nvSpPr>
            <p:cNvPr id="7" name="TextBox 7"/>
            <p:cNvSpPr txBox="1"/>
            <p:nvPr/>
          </p:nvSpPr>
          <p:spPr>
            <a:xfrm>
              <a:off x="0" y="-38100"/>
              <a:ext cx="11820009" cy="635645"/>
            </a:xfrm>
            <a:prstGeom prst="rect">
              <a:avLst/>
            </a:prstGeom>
          </p:spPr>
          <p:txBody>
            <a:bodyPr lIns="0" tIns="0" rIns="0" bIns="0" rtlCol="0" anchor="t">
              <a:spAutoFit/>
            </a:bodyPr>
            <a:lstStyle/>
            <a:p>
              <a:pPr marL="0" lvl="0" indent="0" algn="l">
                <a:lnSpc>
                  <a:spcPts val="3759"/>
                </a:lnSpc>
                <a:spcBef>
                  <a:spcPct val="0"/>
                </a:spcBef>
              </a:pPr>
              <a:r>
                <a:rPr lang="en-US" sz="2891" b="1">
                  <a:solidFill>
                    <a:srgbClr val="000000"/>
                  </a:solidFill>
                  <a:latin typeface="Garet Bold"/>
                  <a:ea typeface="Garet Bold"/>
                  <a:cs typeface="Garet Bold"/>
                  <a:sym typeface="Garet Bold"/>
                </a:rPr>
                <a:t>4 Creating a Complete Look</a:t>
              </a:r>
            </a:p>
          </p:txBody>
        </p:sp>
        <p:sp>
          <p:nvSpPr>
            <p:cNvPr id="8" name="TextBox 8"/>
            <p:cNvSpPr txBox="1"/>
            <p:nvPr/>
          </p:nvSpPr>
          <p:spPr>
            <a:xfrm>
              <a:off x="0" y="713912"/>
              <a:ext cx="11820009" cy="4451214"/>
            </a:xfrm>
            <a:prstGeom prst="rect">
              <a:avLst/>
            </a:prstGeom>
          </p:spPr>
          <p:txBody>
            <a:bodyPr lIns="0" tIns="0" rIns="0" bIns="0" rtlCol="0" anchor="t">
              <a:spAutoFit/>
            </a:bodyPr>
            <a:lstStyle/>
            <a:p>
              <a:pPr algn="l">
                <a:lnSpc>
                  <a:spcPts val="3308"/>
                </a:lnSpc>
              </a:pPr>
              <a:r>
                <a:rPr lang="en-US" sz="2544">
                  <a:solidFill>
                    <a:srgbClr val="000000"/>
                  </a:solidFill>
                  <a:latin typeface="Garet"/>
                  <a:ea typeface="Garet"/>
                  <a:cs typeface="Garet"/>
                  <a:sym typeface="Garet"/>
                </a:rPr>
                <a:t>The system doesn’t just suggest one piece.</a:t>
              </a:r>
            </a:p>
            <a:p>
              <a:pPr algn="l">
                <a:lnSpc>
                  <a:spcPts val="3308"/>
                </a:lnSpc>
              </a:pPr>
              <a:r>
                <a:rPr lang="en-US" sz="2544">
                  <a:solidFill>
                    <a:srgbClr val="000000"/>
                  </a:solidFill>
                  <a:latin typeface="Garet"/>
                  <a:ea typeface="Garet"/>
                  <a:cs typeface="Garet"/>
                  <a:sym typeface="Garet"/>
                </a:rPr>
                <a:t>It builds a full, ready-to-wear outfit with:</a:t>
              </a:r>
            </a:p>
            <a:p>
              <a:pPr algn="l">
                <a:lnSpc>
                  <a:spcPts val="3308"/>
                </a:lnSpc>
              </a:pPr>
              <a:r>
                <a:rPr lang="en-US" sz="2544">
                  <a:solidFill>
                    <a:srgbClr val="000000"/>
                  </a:solidFill>
                  <a:latin typeface="Garet"/>
                  <a:ea typeface="Garet"/>
                  <a:cs typeface="Garet"/>
                  <a:sym typeface="Garet"/>
                </a:rPr>
                <a:t> • Clothes</a:t>
              </a:r>
            </a:p>
            <a:p>
              <a:pPr algn="l">
                <a:lnSpc>
                  <a:spcPts val="3308"/>
                </a:lnSpc>
              </a:pPr>
              <a:r>
                <a:rPr lang="en-US" sz="2544">
                  <a:solidFill>
                    <a:srgbClr val="000000"/>
                  </a:solidFill>
                  <a:latin typeface="Garet"/>
                  <a:ea typeface="Garet"/>
                  <a:cs typeface="Garet"/>
                  <a:sym typeface="Garet"/>
                </a:rPr>
                <a:t> • Shoes</a:t>
              </a:r>
            </a:p>
            <a:p>
              <a:pPr algn="l">
                <a:lnSpc>
                  <a:spcPts val="3308"/>
                </a:lnSpc>
              </a:pPr>
              <a:r>
                <a:rPr lang="en-US" sz="2544">
                  <a:solidFill>
                    <a:srgbClr val="000000"/>
                  </a:solidFill>
                  <a:latin typeface="Garet"/>
                  <a:ea typeface="Garet"/>
                  <a:cs typeface="Garet"/>
                  <a:sym typeface="Garet"/>
                </a:rPr>
                <a:t> • Accessories</a:t>
              </a:r>
            </a:p>
            <a:p>
              <a:pPr algn="l">
                <a:lnSpc>
                  <a:spcPts val="3308"/>
                </a:lnSpc>
              </a:pPr>
              <a:endParaRPr lang="en-US" sz="2544">
                <a:solidFill>
                  <a:srgbClr val="000000"/>
                </a:solidFill>
                <a:latin typeface="Garet"/>
                <a:ea typeface="Garet"/>
                <a:cs typeface="Garet"/>
                <a:sym typeface="Garet"/>
              </a:endParaRPr>
            </a:p>
            <a:p>
              <a:pPr marL="0" lvl="0" indent="0" algn="l">
                <a:lnSpc>
                  <a:spcPts val="3308"/>
                </a:lnSpc>
                <a:spcBef>
                  <a:spcPct val="0"/>
                </a:spcBef>
              </a:pPr>
              <a:r>
                <a:rPr lang="en-US" sz="2544">
                  <a:solidFill>
                    <a:srgbClr val="000000"/>
                  </a:solidFill>
                  <a:latin typeface="Garet"/>
                  <a:ea typeface="Garet"/>
                  <a:cs typeface="Garet"/>
                  <a:sym typeface="Garet"/>
                </a:rPr>
                <a:t>Everything is curated as if a personal stylist assembled it.</a:t>
              </a:r>
            </a:p>
          </p:txBody>
        </p:sp>
      </p:grpSp>
      <p:sp>
        <p:nvSpPr>
          <p:cNvPr id="9" name="Freeform 9"/>
          <p:cNvSpPr/>
          <p:nvPr/>
        </p:nvSpPr>
        <p:spPr>
          <a:xfrm>
            <a:off x="9958789" y="585679"/>
            <a:ext cx="8176683" cy="9258300"/>
          </a:xfrm>
          <a:custGeom>
            <a:avLst/>
            <a:gdLst/>
            <a:ahLst/>
            <a:cxnLst/>
            <a:rect l="l" t="t" r="r" b="b"/>
            <a:pathLst>
              <a:path w="8176683" h="9258300">
                <a:moveTo>
                  <a:pt x="0" y="0"/>
                </a:moveTo>
                <a:lnTo>
                  <a:pt x="8176683" y="0"/>
                </a:lnTo>
                <a:lnTo>
                  <a:pt x="8176683" y="9258300"/>
                </a:lnTo>
                <a:lnTo>
                  <a:pt x="0" y="9258300"/>
                </a:lnTo>
                <a:lnTo>
                  <a:pt x="0" y="0"/>
                </a:lnTo>
                <a:close/>
              </a:path>
            </a:pathLst>
          </a:custGeom>
          <a:blipFill>
            <a:blip r:embed="rId3"/>
            <a:stretch>
              <a:fillRect l="-14279" r="-1098" b="-1898"/>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6F98-C3E4-F8B0-5975-8F23239E342D}"/>
              </a:ext>
            </a:extLst>
          </p:cNvPr>
          <p:cNvSpPr>
            <a:spLocks noGrp="1"/>
          </p:cNvSpPr>
          <p:nvPr>
            <p:ph type="title"/>
          </p:nvPr>
        </p:nvSpPr>
        <p:spPr>
          <a:xfrm>
            <a:off x="609600" y="1"/>
            <a:ext cx="8111068" cy="1269999"/>
          </a:xfrm>
        </p:spPr>
        <p:txBody>
          <a:bodyPr>
            <a:noAutofit/>
          </a:bodyPr>
          <a:lstStyle/>
          <a:p>
            <a:r>
              <a:rPr lang="en-US" sz="7500" b="1" dirty="0"/>
              <a:t>Proposed Solution</a:t>
            </a:r>
          </a:p>
        </p:txBody>
      </p:sp>
      <p:sp>
        <p:nvSpPr>
          <p:cNvPr id="3" name="Content Placeholder 2">
            <a:extLst>
              <a:ext uri="{FF2B5EF4-FFF2-40B4-BE49-F238E27FC236}">
                <a16:creationId xmlns:a16="http://schemas.microsoft.com/office/drawing/2014/main" id="{542330E9-9EE1-1B20-9E36-C8E2A6EEE793}"/>
              </a:ext>
            </a:extLst>
          </p:cNvPr>
          <p:cNvSpPr>
            <a:spLocks noGrp="1"/>
          </p:cNvSpPr>
          <p:nvPr>
            <p:ph idx="1"/>
          </p:nvPr>
        </p:nvSpPr>
        <p:spPr>
          <a:xfrm>
            <a:off x="1049868" y="1574800"/>
            <a:ext cx="16628532" cy="8504382"/>
          </a:xfrm>
        </p:spPr>
        <p:txBody>
          <a:bodyPr>
            <a:noAutofit/>
          </a:bodyPr>
          <a:lstStyle/>
          <a:p>
            <a:pPr marL="0" indent="0">
              <a:buNone/>
            </a:pPr>
            <a:r>
              <a:rPr lang="en-US" sz="2800" dirty="0"/>
              <a:t>• User Profile Creation</a:t>
            </a:r>
          </a:p>
          <a:p>
            <a:pPr marL="0" indent="0">
              <a:buNone/>
            </a:pPr>
            <a:r>
              <a:rPr lang="en-US" sz="2800" dirty="0"/>
              <a:t>The system begins by creating a detailed user profile that includes body type, preferred </a:t>
            </a:r>
            <a:r>
              <a:rPr lang="en-US" sz="2800" dirty="0" err="1"/>
              <a:t>colours</a:t>
            </a:r>
            <a:r>
              <a:rPr lang="en-US" sz="2800" dirty="0"/>
              <a:t>, fabric choices, comfort level, style preferences, and budget constraints.</a:t>
            </a:r>
          </a:p>
          <a:p>
            <a:pPr marL="0" indent="0">
              <a:buNone/>
            </a:pPr>
            <a:r>
              <a:rPr lang="en-US" sz="2800" dirty="0"/>
              <a:t>• </a:t>
            </a:r>
            <a:r>
              <a:rPr lang="en-US" sz="2800" dirty="0" err="1"/>
              <a:t>Behaviour</a:t>
            </a:r>
            <a:r>
              <a:rPr lang="en-US" sz="2800" dirty="0"/>
              <a:t>-Based Learning</a:t>
            </a:r>
          </a:p>
          <a:p>
            <a:pPr marL="0" indent="0">
              <a:buNone/>
            </a:pPr>
            <a:r>
              <a:rPr lang="en-US" sz="2800" dirty="0"/>
              <a:t>Machine learning techniques are used to </a:t>
            </a:r>
            <a:r>
              <a:rPr lang="en-US" sz="2800" dirty="0" err="1"/>
              <a:t>analyse</a:t>
            </a:r>
            <a:r>
              <a:rPr lang="en-US" sz="2800" dirty="0"/>
              <a:t> user interactions, selections, and feedback to understand fashion </a:t>
            </a:r>
            <a:r>
              <a:rPr lang="en-US" sz="2800" dirty="0" err="1"/>
              <a:t>behaviour</a:t>
            </a:r>
            <a:r>
              <a:rPr lang="en-US" sz="2800" dirty="0"/>
              <a:t> and continuously refine recommendations over time.</a:t>
            </a:r>
          </a:p>
          <a:p>
            <a:pPr marL="0" indent="0">
              <a:buNone/>
            </a:pPr>
            <a:r>
              <a:rPr lang="en-US" sz="2800" dirty="0"/>
              <a:t>• Context Awareness Integration</a:t>
            </a:r>
          </a:p>
          <a:p>
            <a:pPr marL="0" indent="0">
              <a:buNone/>
            </a:pPr>
            <a:r>
              <a:rPr lang="en-US" sz="2800" dirty="0"/>
              <a:t>The solution incorporates real-time contextual data such as weather conditions, temperature, season, and occasion (college, office, party, travel, etc.) to ensure practical and comfortable outfit suggestions.</a:t>
            </a:r>
          </a:p>
          <a:p>
            <a:pPr marL="0" indent="0">
              <a:buNone/>
            </a:pPr>
            <a:r>
              <a:rPr lang="en-US" sz="2800" dirty="0"/>
              <a:t>• Occasion-Based Styling Logic</a:t>
            </a:r>
          </a:p>
          <a:p>
            <a:pPr marL="0" indent="0">
              <a:buNone/>
            </a:pPr>
            <a:r>
              <a:rPr lang="en-US" sz="2800" dirty="0"/>
              <a:t>Outfits are classified and generated based on the selected or inferred occasion, ensuring suitability for formal, casual, festive, or daily wear scenarios.</a:t>
            </a:r>
          </a:p>
          <a:p>
            <a:pPr marL="0" indent="0">
              <a:buNone/>
            </a:pPr>
            <a:r>
              <a:rPr lang="en-US" sz="2800" dirty="0"/>
              <a:t>• Complete Outfit Generation</a:t>
            </a:r>
          </a:p>
          <a:p>
            <a:pPr marL="0" indent="0">
              <a:buNone/>
            </a:pPr>
            <a:r>
              <a:rPr lang="en-US" sz="2800" dirty="0"/>
              <a:t>Instead of suggesting individual clothing items, the system creates full, coordinated outfits including </a:t>
            </a:r>
            <a:r>
              <a:rPr lang="en-US" sz="2800" dirty="0" err="1"/>
              <a:t>topwear</a:t>
            </a:r>
            <a:r>
              <a:rPr lang="en-US" sz="2800" dirty="0"/>
              <a:t>, </a:t>
            </a:r>
            <a:r>
              <a:rPr lang="en-US" sz="2800" dirty="0" err="1"/>
              <a:t>bottomwear</a:t>
            </a:r>
            <a:r>
              <a:rPr lang="en-US" sz="2800" dirty="0"/>
              <a:t>, footwear, and accessories.</a:t>
            </a:r>
          </a:p>
          <a:p>
            <a:pPr marL="0" indent="0">
              <a:buNone/>
            </a:pPr>
            <a:r>
              <a:rPr lang="en-US" sz="2800" dirty="0"/>
              <a:t>	</a:t>
            </a:r>
          </a:p>
        </p:txBody>
      </p:sp>
    </p:spTree>
    <p:extLst>
      <p:ext uri="{BB962C8B-B14F-4D97-AF65-F5344CB8AC3E}">
        <p14:creationId xmlns:p14="http://schemas.microsoft.com/office/powerpoint/2010/main" val="2597336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CC24F6-698E-4AF1-1522-F0F3C2CEA17A}"/>
              </a:ext>
            </a:extLst>
          </p:cNvPr>
          <p:cNvSpPr>
            <a:spLocks noGrp="1"/>
          </p:cNvSpPr>
          <p:nvPr>
            <p:ph idx="1"/>
          </p:nvPr>
        </p:nvSpPr>
        <p:spPr>
          <a:xfrm>
            <a:off x="338667" y="829733"/>
            <a:ext cx="12158133" cy="9228667"/>
          </a:xfrm>
        </p:spPr>
        <p:txBody>
          <a:bodyPr>
            <a:normAutofit fontScale="92500"/>
          </a:bodyPr>
          <a:lstStyle/>
          <a:p>
            <a:pPr marL="0" indent="0">
              <a:buNone/>
            </a:pPr>
            <a:r>
              <a:rPr lang="en-US" sz="3200" dirty="0"/>
              <a:t>• Fashion Compatibility Rules</a:t>
            </a:r>
          </a:p>
          <a:p>
            <a:pPr marL="0" indent="0">
              <a:buNone/>
            </a:pPr>
            <a:r>
              <a:rPr lang="en-US" sz="3200" dirty="0" err="1"/>
              <a:t>Colour</a:t>
            </a:r>
            <a:r>
              <a:rPr lang="en-US" sz="3200" dirty="0"/>
              <a:t> harmony, fabric pairing, fit alignment, and trend compatibility rules are applied to ensure visually balanced and aesthetically pleasing outfits.</a:t>
            </a:r>
          </a:p>
          <a:p>
            <a:pPr marL="0" indent="0">
              <a:buNone/>
            </a:pPr>
            <a:r>
              <a:rPr lang="en-US" sz="3200" dirty="0"/>
              <a:t>• Smart Shopping Assistance</a:t>
            </a:r>
          </a:p>
          <a:p>
            <a:pPr marL="0" indent="0">
              <a:buNone/>
            </a:pPr>
            <a:r>
              <a:rPr lang="en-US" sz="3200" dirty="0"/>
              <a:t>The system provides brand alternatives, approximate prices, and availability information to help users easily purchase the recommended outfits within their budget.</a:t>
            </a:r>
          </a:p>
          <a:p>
            <a:pPr marL="0" indent="0">
              <a:buNone/>
            </a:pPr>
            <a:r>
              <a:rPr lang="en-US" sz="3200" dirty="0"/>
              <a:t>•</a:t>
            </a:r>
            <a:r>
              <a:rPr lang="en-US" dirty="0"/>
              <a:t> </a:t>
            </a:r>
            <a:r>
              <a:rPr lang="en-US" sz="3200" dirty="0"/>
              <a:t>Fast Recommendation Pipeline</a:t>
            </a:r>
          </a:p>
          <a:p>
            <a:pPr marL="0" indent="0">
              <a:buNone/>
            </a:pPr>
            <a:r>
              <a:rPr lang="en-US" sz="3200" dirty="0"/>
              <a:t>The entire recommendation process is </a:t>
            </a:r>
            <a:r>
              <a:rPr lang="en-US" sz="3200" dirty="0" err="1"/>
              <a:t>optimised</a:t>
            </a:r>
            <a:r>
              <a:rPr lang="en-US" sz="3200" dirty="0"/>
              <a:t> to deliver 2–3 ready-to-wear outfit suggestions within seconds, making it suitable for daily use.</a:t>
            </a:r>
          </a:p>
          <a:p>
            <a:pPr marL="0" indent="0">
              <a:buNone/>
            </a:pPr>
            <a:r>
              <a:rPr lang="en-US" sz="3200" dirty="0"/>
              <a:t>•</a:t>
            </a:r>
            <a:r>
              <a:rPr lang="en-US" dirty="0"/>
              <a:t> </a:t>
            </a:r>
            <a:r>
              <a:rPr lang="en-US" sz="3200" dirty="0"/>
              <a:t>Feedback and Improvement Loop</a:t>
            </a:r>
          </a:p>
          <a:p>
            <a:pPr marL="0" indent="0">
              <a:buNone/>
            </a:pPr>
            <a:r>
              <a:rPr lang="en-US" sz="3200" dirty="0"/>
              <a:t>User feedback on suggested outfits is collected and used to improve future recommendations, making the system adaptive and </a:t>
            </a:r>
            <a:r>
              <a:rPr lang="en-US" sz="3200" dirty="0" err="1"/>
              <a:t>personalised</a:t>
            </a:r>
            <a:r>
              <a:rPr lang="en-US" sz="3200" dirty="0"/>
              <a:t>.</a:t>
            </a:r>
          </a:p>
          <a:p>
            <a:pPr marL="0" indent="0">
              <a:buNone/>
            </a:pPr>
            <a:r>
              <a:rPr lang="en-US" sz="3200" dirty="0"/>
              <a:t>• User-Friendly Experience</a:t>
            </a:r>
          </a:p>
          <a:p>
            <a:pPr marL="0" indent="0">
              <a:buNone/>
            </a:pPr>
            <a:r>
              <a:rPr lang="en-US" sz="3200" dirty="0"/>
              <a:t>The solution reduces decision fatigue, saves time, and increases user confidence by simplifying the outfit selection process into a quick and intelligent experience</a:t>
            </a:r>
            <a:endParaRPr lang="en-US" sz="3000" dirty="0"/>
          </a:p>
        </p:txBody>
      </p:sp>
      <p:pic>
        <p:nvPicPr>
          <p:cNvPr id="5" name="Picture 4" descr="A staircase with many bags on it&#10;&#10;Description automatically generated">
            <a:extLst>
              <a:ext uri="{FF2B5EF4-FFF2-40B4-BE49-F238E27FC236}">
                <a16:creationId xmlns:a16="http://schemas.microsoft.com/office/drawing/2014/main" id="{CE1158A0-B0A4-73D0-892F-CAFA0081D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9873" y="629226"/>
            <a:ext cx="5459460" cy="8828041"/>
          </a:xfrm>
          <a:prstGeom prst="rect">
            <a:avLst/>
          </a:prstGeom>
        </p:spPr>
      </p:pic>
    </p:spTree>
    <p:extLst>
      <p:ext uri="{BB962C8B-B14F-4D97-AF65-F5344CB8AC3E}">
        <p14:creationId xmlns:p14="http://schemas.microsoft.com/office/powerpoint/2010/main" val="84803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txBody>
          <a:bodyPr/>
          <a:lstStyle/>
          <a:p>
            <a:endParaRPr lang="en-US"/>
          </a:p>
        </p:txBody>
      </p:sp>
      <p:sp>
        <p:nvSpPr>
          <p:cNvPr id="3" name="TextBox 3"/>
          <p:cNvSpPr txBox="1"/>
          <p:nvPr/>
        </p:nvSpPr>
        <p:spPr>
          <a:xfrm>
            <a:off x="529045" y="807119"/>
            <a:ext cx="7203393" cy="662237"/>
          </a:xfrm>
          <a:prstGeom prst="rect">
            <a:avLst/>
          </a:prstGeom>
        </p:spPr>
        <p:txBody>
          <a:bodyPr lIns="0" tIns="0" rIns="0" bIns="0" rtlCol="0" anchor="t">
            <a:spAutoFit/>
          </a:bodyPr>
          <a:lstStyle/>
          <a:p>
            <a:pPr algn="l">
              <a:lnSpc>
                <a:spcPts val="4530"/>
              </a:lnSpc>
            </a:pPr>
            <a:r>
              <a:rPr lang="en-US" sz="5808" spc="-458">
                <a:solidFill>
                  <a:srgbClr val="000000"/>
                </a:solidFill>
                <a:latin typeface="Archivo Black"/>
                <a:ea typeface="Archivo Black"/>
                <a:cs typeface="Archivo Black"/>
                <a:sym typeface="Archivo Black"/>
              </a:rPr>
              <a:t>References</a:t>
            </a:r>
          </a:p>
        </p:txBody>
      </p:sp>
      <p:sp>
        <p:nvSpPr>
          <p:cNvPr id="4" name="TextBox 4"/>
          <p:cNvSpPr txBox="1"/>
          <p:nvPr/>
        </p:nvSpPr>
        <p:spPr>
          <a:xfrm>
            <a:off x="261404" y="1872424"/>
            <a:ext cx="17851043" cy="5253023"/>
          </a:xfrm>
          <a:prstGeom prst="rect">
            <a:avLst/>
          </a:prstGeom>
        </p:spPr>
        <p:txBody>
          <a:bodyPr lIns="0" tIns="0" rIns="0" bIns="0" rtlCol="0" anchor="t">
            <a:spAutoFit/>
          </a:bodyPr>
          <a:lstStyle/>
          <a:p>
            <a:pPr algn="l">
              <a:lnSpc>
                <a:spcPts val="3098"/>
              </a:lnSpc>
            </a:pPr>
            <a:r>
              <a:rPr lang="en-US" sz="2213" dirty="0">
                <a:solidFill>
                  <a:srgbClr val="000000"/>
                </a:solidFill>
                <a:latin typeface="Canva Sans"/>
                <a:ea typeface="Canva Sans"/>
                <a:cs typeface="Canva Sans"/>
                <a:sym typeface="Canva Sans"/>
              </a:rPr>
              <a:t>1)  </a:t>
            </a:r>
            <a:r>
              <a:rPr lang="en-US" sz="2213" dirty="0" err="1">
                <a:solidFill>
                  <a:srgbClr val="000000"/>
                </a:solidFill>
                <a:latin typeface="Canva Sans"/>
                <a:ea typeface="Canva Sans"/>
                <a:cs typeface="Canva Sans"/>
                <a:sym typeface="Canva Sans"/>
              </a:rPr>
              <a:t>Yaswanthraj</a:t>
            </a:r>
            <a:r>
              <a:rPr lang="en-US" sz="2213" dirty="0">
                <a:solidFill>
                  <a:srgbClr val="000000"/>
                </a:solidFill>
                <a:latin typeface="Canva Sans"/>
                <a:ea typeface="Canva Sans"/>
                <a:cs typeface="Canva Sans"/>
                <a:sym typeface="Canva Sans"/>
              </a:rPr>
              <a:t>, M., Nadar, P., </a:t>
            </a:r>
            <a:r>
              <a:rPr lang="en-US" sz="2213" dirty="0" err="1">
                <a:solidFill>
                  <a:srgbClr val="000000"/>
                </a:solidFill>
                <a:latin typeface="Canva Sans"/>
                <a:ea typeface="Canva Sans"/>
                <a:cs typeface="Canva Sans"/>
                <a:sym typeface="Canva Sans"/>
              </a:rPr>
              <a:t>Sathiya</a:t>
            </a:r>
            <a:r>
              <a:rPr lang="en-US" sz="2213" dirty="0">
                <a:solidFill>
                  <a:srgbClr val="000000"/>
                </a:solidFill>
                <a:latin typeface="Canva Sans"/>
                <a:ea typeface="Canva Sans"/>
                <a:cs typeface="Canva Sans"/>
                <a:sym typeface="Canva Sans"/>
              </a:rPr>
              <a:t> Moorthy, M., &amp; Sivakumar, S. (2024, December 19). AI-based outfit recommendation system. https://</a:t>
            </a:r>
            <a:r>
              <a:rPr lang="en-US" sz="2213" dirty="0" err="1">
                <a:solidFill>
                  <a:srgbClr val="000000"/>
                </a:solidFill>
                <a:latin typeface="Canva Sans"/>
                <a:ea typeface="Canva Sans"/>
                <a:cs typeface="Canva Sans"/>
                <a:sym typeface="Canva Sans"/>
              </a:rPr>
              <a:t>doi.org</a:t>
            </a:r>
            <a:r>
              <a:rPr lang="en-US" sz="2213" dirty="0">
                <a:solidFill>
                  <a:srgbClr val="000000"/>
                </a:solidFill>
                <a:latin typeface="Canva Sans"/>
                <a:ea typeface="Canva Sans"/>
                <a:cs typeface="Canva Sans"/>
                <a:sym typeface="Canva Sans"/>
              </a:rPr>
              <a:t>/10.13140/RG.2.2.26202.25287</a:t>
            </a:r>
          </a:p>
          <a:p>
            <a:pPr algn="l">
              <a:lnSpc>
                <a:spcPts val="3098"/>
              </a:lnSpc>
            </a:pPr>
            <a:r>
              <a:rPr lang="en-US" sz="2213" dirty="0">
                <a:solidFill>
                  <a:srgbClr val="000000"/>
                </a:solidFill>
                <a:latin typeface="Canva Sans"/>
                <a:ea typeface="Canva Sans"/>
                <a:cs typeface="Canva Sans"/>
                <a:sym typeface="Canva Sans"/>
              </a:rPr>
              <a:t>2)  </a:t>
            </a:r>
            <a:r>
              <a:rPr lang="en-US" sz="2213" dirty="0" err="1">
                <a:solidFill>
                  <a:srgbClr val="000000"/>
                </a:solidFill>
                <a:latin typeface="Canva Sans"/>
                <a:ea typeface="Canva Sans"/>
                <a:cs typeface="Canva Sans"/>
                <a:sym typeface="Canva Sans"/>
              </a:rPr>
              <a:t>Sivaranjani</a:t>
            </a:r>
            <a:r>
              <a:rPr lang="en-US" sz="2213" dirty="0">
                <a:solidFill>
                  <a:srgbClr val="000000"/>
                </a:solidFill>
                <a:latin typeface="Canva Sans"/>
                <a:ea typeface="Canva Sans"/>
                <a:cs typeface="Canva Sans"/>
                <a:sym typeface="Canva Sans"/>
              </a:rPr>
              <a:t>, L., </a:t>
            </a:r>
            <a:r>
              <a:rPr lang="en-US" sz="2213" dirty="0" err="1">
                <a:solidFill>
                  <a:srgbClr val="000000"/>
                </a:solidFill>
                <a:latin typeface="Canva Sans"/>
                <a:ea typeface="Canva Sans"/>
                <a:cs typeface="Canva Sans"/>
                <a:sym typeface="Canva Sans"/>
              </a:rPr>
              <a:t>Rachamadugu</a:t>
            </a:r>
            <a:r>
              <a:rPr lang="en-US" sz="2213" dirty="0">
                <a:solidFill>
                  <a:srgbClr val="000000"/>
                </a:solidFill>
                <a:latin typeface="Canva Sans"/>
                <a:ea typeface="Canva Sans"/>
                <a:cs typeface="Canva Sans"/>
                <a:sym typeface="Canva Sans"/>
              </a:rPr>
              <a:t>, S., Reddy, B. V., </a:t>
            </a:r>
            <a:r>
              <a:rPr lang="en-US" sz="2213" dirty="0" err="1">
                <a:solidFill>
                  <a:srgbClr val="000000"/>
                </a:solidFill>
                <a:latin typeface="Canva Sans"/>
                <a:ea typeface="Canva Sans"/>
                <a:cs typeface="Canva Sans"/>
                <a:sym typeface="Canva Sans"/>
              </a:rPr>
              <a:t>Avula</a:t>
            </a:r>
            <a:r>
              <a:rPr lang="en-US" sz="2213" dirty="0">
                <a:solidFill>
                  <a:srgbClr val="000000"/>
                </a:solidFill>
                <a:latin typeface="Canva Sans"/>
                <a:ea typeface="Canva Sans"/>
                <a:cs typeface="Canva Sans"/>
                <a:sym typeface="Canva Sans"/>
              </a:rPr>
              <a:t>, B. R., Muthusamy, S., &amp; </a:t>
            </a:r>
            <a:r>
              <a:rPr lang="en-US" sz="2213" dirty="0" err="1">
                <a:solidFill>
                  <a:srgbClr val="000000"/>
                </a:solidFill>
                <a:latin typeface="Canva Sans"/>
                <a:ea typeface="Canva Sans"/>
                <a:cs typeface="Canva Sans"/>
                <a:sym typeface="Canva Sans"/>
              </a:rPr>
              <a:t>Depuru</a:t>
            </a:r>
            <a:r>
              <a:rPr lang="en-US" sz="2213" dirty="0">
                <a:solidFill>
                  <a:srgbClr val="000000"/>
                </a:solidFill>
                <a:latin typeface="Canva Sans"/>
                <a:ea typeface="Canva Sans"/>
                <a:cs typeface="Canva Sans"/>
                <a:sym typeface="Canva Sans"/>
              </a:rPr>
              <a:t>, S. (2023, September 20). Fashion recommendation system using machine learning. Proceedings of the IEEE International Conference on Smart Electronics and Communication (ICOSEC), 1367–1374. https://</a:t>
            </a:r>
            <a:r>
              <a:rPr lang="en-US" sz="2213" dirty="0" err="1">
                <a:solidFill>
                  <a:srgbClr val="000000"/>
                </a:solidFill>
                <a:latin typeface="Canva Sans"/>
                <a:ea typeface="Canva Sans"/>
                <a:cs typeface="Canva Sans"/>
                <a:sym typeface="Canva Sans"/>
              </a:rPr>
              <a:t>doi.org</a:t>
            </a:r>
            <a:r>
              <a:rPr lang="en-US" sz="2213" dirty="0">
                <a:solidFill>
                  <a:srgbClr val="000000"/>
                </a:solidFill>
                <a:latin typeface="Canva Sans"/>
                <a:ea typeface="Canva Sans"/>
                <a:cs typeface="Canva Sans"/>
                <a:sym typeface="Canva Sans"/>
              </a:rPr>
              <a:t>/10.1109/ICOSEC58147.2023.10275967</a:t>
            </a:r>
          </a:p>
          <a:p>
            <a:pPr algn="l">
              <a:lnSpc>
                <a:spcPts val="3098"/>
              </a:lnSpc>
            </a:pPr>
            <a:r>
              <a:rPr lang="en-US" sz="2213" dirty="0">
                <a:solidFill>
                  <a:srgbClr val="000000"/>
                </a:solidFill>
                <a:latin typeface="Canva Sans"/>
                <a:ea typeface="Canva Sans"/>
                <a:cs typeface="Canva Sans"/>
                <a:sym typeface="Canva Sans"/>
              </a:rPr>
              <a:t>3)  Lu, X. (2025, September 26). Research on personalized clothing recommendation system based on AIGC. Applied Mathematics and Nonlinear Sciences, 10. https://</a:t>
            </a:r>
            <a:r>
              <a:rPr lang="en-US" sz="2213" dirty="0" err="1">
                <a:solidFill>
                  <a:srgbClr val="000000"/>
                </a:solidFill>
                <a:latin typeface="Canva Sans"/>
                <a:ea typeface="Canva Sans"/>
                <a:cs typeface="Canva Sans"/>
                <a:sym typeface="Canva Sans"/>
              </a:rPr>
              <a:t>doi.org</a:t>
            </a:r>
            <a:r>
              <a:rPr lang="en-US" sz="2213" dirty="0">
                <a:solidFill>
                  <a:srgbClr val="000000"/>
                </a:solidFill>
                <a:latin typeface="Canva Sans"/>
                <a:ea typeface="Canva Sans"/>
                <a:cs typeface="Canva Sans"/>
                <a:sym typeface="Canva Sans"/>
              </a:rPr>
              <a:t>/10.2478/amns-2025-1038</a:t>
            </a:r>
          </a:p>
          <a:p>
            <a:pPr algn="l">
              <a:lnSpc>
                <a:spcPts val="3098"/>
              </a:lnSpc>
            </a:pPr>
            <a:r>
              <a:rPr lang="en-US" sz="2213" dirty="0">
                <a:solidFill>
                  <a:srgbClr val="000000"/>
                </a:solidFill>
                <a:latin typeface="Canva Sans"/>
                <a:ea typeface="Canva Sans"/>
                <a:cs typeface="Canva Sans"/>
                <a:sym typeface="Canva Sans"/>
              </a:rPr>
              <a:t>4)  Kushwaha, R., </a:t>
            </a:r>
            <a:r>
              <a:rPr lang="en-US" sz="2213" dirty="0" err="1">
                <a:solidFill>
                  <a:srgbClr val="000000"/>
                </a:solidFill>
                <a:latin typeface="Canva Sans"/>
                <a:ea typeface="Canva Sans"/>
                <a:cs typeface="Canva Sans"/>
                <a:sym typeface="Canva Sans"/>
              </a:rPr>
              <a:t>Kumtekar</a:t>
            </a:r>
            <a:r>
              <a:rPr lang="en-US" sz="2213" dirty="0">
                <a:solidFill>
                  <a:srgbClr val="000000"/>
                </a:solidFill>
                <a:latin typeface="Canva Sans"/>
                <a:ea typeface="Canva Sans"/>
                <a:cs typeface="Canva Sans"/>
                <a:sym typeface="Canva Sans"/>
              </a:rPr>
              <a:t>, R., More, A., &amp; Gaikwad, M. (2025, September 21). Smart outfit recommendation system: A comprehensive review. https://</a:t>
            </a:r>
            <a:r>
              <a:rPr lang="en-US" sz="2213" dirty="0" err="1">
                <a:solidFill>
                  <a:srgbClr val="000000"/>
                </a:solidFill>
                <a:latin typeface="Canva Sans"/>
                <a:ea typeface="Canva Sans"/>
                <a:cs typeface="Canva Sans"/>
                <a:sym typeface="Canva Sans"/>
              </a:rPr>
              <a:t>doi.org</a:t>
            </a:r>
            <a:r>
              <a:rPr lang="en-US" sz="2213" dirty="0">
                <a:solidFill>
                  <a:srgbClr val="000000"/>
                </a:solidFill>
                <a:latin typeface="Canva Sans"/>
                <a:ea typeface="Canva Sans"/>
                <a:cs typeface="Canva Sans"/>
                <a:sym typeface="Canva Sans"/>
              </a:rPr>
              <a:t>/10.13140/RG.2.2.29554.36804</a:t>
            </a:r>
          </a:p>
          <a:p>
            <a:pPr algn="l">
              <a:lnSpc>
                <a:spcPts val="3098"/>
              </a:lnSpc>
            </a:pPr>
            <a:endParaRPr lang="en-US" sz="2213" dirty="0">
              <a:solidFill>
                <a:srgbClr val="000000"/>
              </a:solidFill>
              <a:latin typeface="Canva Sans"/>
              <a:ea typeface="Canva Sans"/>
              <a:cs typeface="Canva Sans"/>
              <a:sym typeface="Canva Sans"/>
            </a:endParaRPr>
          </a:p>
          <a:p>
            <a:pPr algn="l">
              <a:lnSpc>
                <a:spcPts val="3098"/>
              </a:lnSpc>
            </a:pPr>
            <a:endParaRPr lang="en-US" sz="2213" dirty="0">
              <a:solidFill>
                <a:srgbClr val="000000"/>
              </a:solidFill>
              <a:latin typeface="Canva Sans"/>
              <a:ea typeface="Canva Sans"/>
              <a:cs typeface="Canva Sans"/>
              <a:sym typeface="Canva Sans"/>
            </a:endParaRPr>
          </a:p>
          <a:p>
            <a:pPr algn="l">
              <a:lnSpc>
                <a:spcPts val="3098"/>
              </a:lnSpc>
            </a:pPr>
            <a:endParaRPr lang="en-US" sz="2213" dirty="0">
              <a:solidFill>
                <a:srgbClr val="000000"/>
              </a:solidFill>
              <a:latin typeface="Canva Sans"/>
              <a:ea typeface="Canva Sans"/>
              <a:cs typeface="Canva Sans"/>
              <a:sym typeface="Canva Sans"/>
            </a:endParaRPr>
          </a:p>
          <a:p>
            <a:pPr algn="ctr">
              <a:lnSpc>
                <a:spcPts val="4778"/>
              </a:lnSpc>
            </a:pPr>
            <a:endParaRPr lang="en-US" sz="2213" dirty="0">
              <a:solidFill>
                <a:srgbClr val="000000"/>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a:off x="11038771" y="5143500"/>
            <a:ext cx="4888311" cy="1679801"/>
          </a:xfrm>
          <a:custGeom>
            <a:avLst/>
            <a:gdLst/>
            <a:ahLst/>
            <a:cxnLst/>
            <a:rect l="l" t="t" r="r" b="b"/>
            <a:pathLst>
              <a:path w="4888311" h="1679801">
                <a:moveTo>
                  <a:pt x="0" y="0"/>
                </a:moveTo>
                <a:lnTo>
                  <a:pt x="4888310" y="0"/>
                </a:lnTo>
                <a:lnTo>
                  <a:pt x="4888310" y="1679801"/>
                </a:lnTo>
                <a:lnTo>
                  <a:pt x="0" y="16798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028700" y="373871"/>
            <a:ext cx="7442522" cy="9539257"/>
          </a:xfrm>
          <a:custGeom>
            <a:avLst/>
            <a:gdLst/>
            <a:ahLst/>
            <a:cxnLst/>
            <a:rect l="l" t="t" r="r" b="b"/>
            <a:pathLst>
              <a:path w="7442522" h="9539257">
                <a:moveTo>
                  <a:pt x="0" y="0"/>
                </a:moveTo>
                <a:lnTo>
                  <a:pt x="7442522" y="0"/>
                </a:lnTo>
                <a:lnTo>
                  <a:pt x="7442522" y="9539258"/>
                </a:lnTo>
                <a:lnTo>
                  <a:pt x="0" y="9539258"/>
                </a:lnTo>
                <a:lnTo>
                  <a:pt x="0" y="0"/>
                </a:lnTo>
                <a:close/>
              </a:path>
            </a:pathLst>
          </a:custGeom>
          <a:blipFill>
            <a:blip r:embed="rId5"/>
            <a:stretch>
              <a:fillRect t="-739" b="-739"/>
            </a:stretch>
          </a:blipFill>
        </p:spPr>
        <p:txBody>
          <a:bodyPr/>
          <a:lstStyle/>
          <a:p>
            <a:endParaRPr lang="en-US"/>
          </a:p>
        </p:txBody>
      </p:sp>
      <p:sp>
        <p:nvSpPr>
          <p:cNvPr id="5" name="TextBox 5"/>
          <p:cNvSpPr txBox="1"/>
          <p:nvPr/>
        </p:nvSpPr>
        <p:spPr>
          <a:xfrm>
            <a:off x="11038771" y="4028120"/>
            <a:ext cx="5221973" cy="876746"/>
          </a:xfrm>
          <a:prstGeom prst="rect">
            <a:avLst/>
          </a:prstGeom>
        </p:spPr>
        <p:txBody>
          <a:bodyPr lIns="0" tIns="0" rIns="0" bIns="0" rtlCol="0" anchor="t">
            <a:spAutoFit/>
          </a:bodyPr>
          <a:lstStyle/>
          <a:p>
            <a:pPr algn="l">
              <a:lnSpc>
                <a:spcPts val="6073"/>
              </a:lnSpc>
            </a:pPr>
            <a:r>
              <a:rPr lang="en-US" sz="7786" spc="-615">
                <a:solidFill>
                  <a:srgbClr val="000000"/>
                </a:solidFill>
                <a:latin typeface="Archivo Black"/>
                <a:ea typeface="Archivo Black"/>
                <a:cs typeface="Archivo Black"/>
                <a:sym typeface="Archivo Black"/>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1623</Words>
  <Application>Microsoft Office PowerPoint</Application>
  <PresentationFormat>Custom</PresentationFormat>
  <Paragraphs>99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STYQLO Your Personal AI Fashion Stylist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Solution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STYLEMATE</dc:title>
  <cp:lastModifiedBy>Manya Jain [CSE - 2024]</cp:lastModifiedBy>
  <cp:revision>3</cp:revision>
  <dcterms:created xsi:type="dcterms:W3CDTF">2006-08-16T00:00:00Z</dcterms:created>
  <dcterms:modified xsi:type="dcterms:W3CDTF">2026-02-15T17:16:56Z</dcterms:modified>
  <dc:identifier>DAG1Hz74Gb0</dc:identifier>
</cp:coreProperties>
</file>